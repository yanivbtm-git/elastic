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7" r:id="rId18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ayments-c225aa.kb.us-central1.gcp.elastic.cloud:443/app/dashboards#/view/4175393e-6f7a-4ff6-b800-0a6cc952fb08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ayments-c225aa.kb.us-central1.gcp.elastic.cloud:443/app/dashboards#/view/f95d1796-ed29-40c4-af2c-a05a0f834039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ayments-c225aa.kb.us-central1.gcp.elastic.cloud:443/app/dashboards#/view/250b10ed-6fa9-4032-bec9-8d7d1a3632f6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ayments-c225aa.kb.us-central1.gcp.elastic.cloud:443/app/dashboards#/view/3b55a52b-7342-469d-8ebc-317ec4450018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ayments-c225aa.kb.us-central1.gcp.elastic.cloud:443/app/dashboards#/view/9a0f1247-c2d0-475a-9d11-b5c21e950fa2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ayments-c225aa.kb.us-central1.gcp.elastic.cloud:443/app/dashboards#/view/d5e44534-8afb-438e-ae72-aa908ab2bb11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ayments-c225aa.kb.us-central1.gcp.elastic.cloud:443/app/dashboards#/view/4175393e-6f7a-4ff6-b800-0a6cc952fb08" TargetMode="External"/><Relationship Id="rId3" Type="http://schemas.openxmlformats.org/officeDocument/2006/relationships/hyperlink" Target="https://payments-c225aa.kb.us-central1.gcp.elastic.cloud:443/app/dashboards#/view/f95d1796-ed29-40c4-af2c-a05a0f834039" TargetMode="External"/><Relationship Id="rId4" Type="http://schemas.openxmlformats.org/officeDocument/2006/relationships/hyperlink" Target="https://payments-c225aa.kb.us-central1.gcp.elastic.cloud:443/app/dashboards#/view/3b55a52b-7342-469d-8ebc-317ec4450018" TargetMode="External"/><Relationship Id="rId5" Type="http://schemas.openxmlformats.org/officeDocument/2006/relationships/hyperlink" Target="https://payments-c225aa.kb.us-central1.gcp.elastic.cloud:443/app/dashboards#/view/d5e44534-8afb-438e-ae72-aa908ab2bb11" TargetMode="External"/><Relationship Id="rId6" Type="http://schemas.openxmlformats.org/officeDocument/2006/relationships/hyperlink" Target="https://payments-c225aa.kb.us-central1.gcp.elastic.cloud:443/app/dashboards#/view/9a0f1247-c2d0-475a-9d11-b5c21e950fa2" TargetMode="External"/><Relationship Id="rId7" Type="http://schemas.openxmlformats.org/officeDocument/2006/relationships/hyperlink" Target="https://payments-c225aa.kb.us-central1.gcp.elastic.cloud:443/app/dashboards#/view/250b10ed-6fa9-4032-bec9-8d7d1a3632f6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164592"/>
          </a:xfrm>
          <a:prstGeom prst="rect">
            <a:avLst/>
          </a:prstGeom>
          <a:solidFill>
            <a:srgbClr val="0095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8961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Payments Analytics with Elastic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9875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D6E6F5"/>
                </a:solidFill>
              </a:defRPr>
            </a:pPr>
            <a:r>
              <a:t>Synthetic transactions • Elasticsearch analytics • Kibana dashboards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063240"/>
            <a:ext cx="237744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3063240"/>
            <a:ext cx="73152" cy="1097280"/>
          </a:xfrm>
          <a:prstGeom prst="rect">
            <a:avLst/>
          </a:prstGeom>
          <a:solidFill>
            <a:srgbClr val="0095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3200400"/>
            <a:ext cx="2057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Transactions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3502152"/>
            <a:ext cx="2057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1,000,000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3063240"/>
            <a:ext cx="237744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37560" y="3063240"/>
            <a:ext cx="73152" cy="1097280"/>
          </a:xfrm>
          <a:prstGeom prst="rect">
            <a:avLst/>
          </a:prstGeom>
          <a:solidFill>
            <a:srgbClr val="44A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8728" y="3200400"/>
            <a:ext cx="2057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Revenue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8728" y="3502152"/>
            <a:ext cx="2057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$35,128,691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97880" y="3063240"/>
            <a:ext cx="237744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97880" y="3063240"/>
            <a:ext cx="73152" cy="109728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9048" y="3200400"/>
            <a:ext cx="2057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Approval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9048" y="3502152"/>
            <a:ext cx="2057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93.02%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58200" y="3063240"/>
            <a:ext cx="237744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58200" y="3063240"/>
            <a:ext cx="73152" cy="1097280"/>
          </a:xfrm>
          <a:prstGeom prst="rect">
            <a:avLst/>
          </a:prstGeom>
          <a:solidFill>
            <a:srgbClr val="705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59368" y="3200400"/>
            <a:ext cx="2057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Dashboards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59368" y="3502152"/>
            <a:ext cx="2057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What was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A complete payments analytics demo using Elasticsearch + Kibana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09,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324612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554480"/>
            <a:ext cx="73152" cy="150876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91639"/>
            <a:ext cx="29260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1M synthetic payments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011680"/>
            <a:ext cx="2926079" cy="8229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Generated and streamed using the Bulk API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794760" y="1920240"/>
            <a:ext cx="502920" cy="502920"/>
          </a:xfrm>
          <a:prstGeom prst="rightArrow">
            <a:avLst/>
          </a:prstGeom>
          <a:solidFill>
            <a:srgbClr val="EF8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26280" y="1554480"/>
            <a:ext cx="324612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26280" y="1554480"/>
            <a:ext cx="73152" cy="1508760"/>
          </a:xfrm>
          <a:prstGeom prst="rect">
            <a:avLst/>
          </a:prstGeom>
          <a:solidFill>
            <a:srgbClr val="0095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27448" y="1691639"/>
            <a:ext cx="29260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Elasticsearch index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2011680"/>
            <a:ext cx="2926079" cy="8229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Search, aggregations, runtime fields, templates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589520" y="1920240"/>
            <a:ext cx="502920" cy="502920"/>
          </a:xfrm>
          <a:prstGeom prst="rightArrow">
            <a:avLst/>
          </a:prstGeom>
          <a:solidFill>
            <a:srgbClr val="EF8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21040" y="1554480"/>
            <a:ext cx="324612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21040" y="1554480"/>
            <a:ext cx="73152" cy="1508760"/>
          </a:xfrm>
          <a:prstGeom prst="rect">
            <a:avLst/>
          </a:prstGeom>
          <a:solidFill>
            <a:srgbClr val="705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22208" y="1691639"/>
            <a:ext cx="29260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Kibana dashboards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22208" y="2011680"/>
            <a:ext cx="2926079" cy="8229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Executive, operational, anomalies, maps, capabilities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794760"/>
            <a:ext cx="10241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spcAft>
                <a:spcPts val="800"/>
              </a:spcAft>
              <a:defRPr sz="1600">
                <a:solidFill>
                  <a:srgbClr val="222D3D"/>
                </a:solidFill>
              </a:defRPr>
            </a:pPr>
            <a:r>
              <a:t>End-to-end demonstration from data generation to executive insights.</a:t>
            </a:r>
          </a:p>
          <a:p>
            <a:pPr>
              <a:buChar char="•"/>
              <a:spcAft>
                <a:spcPts val="800"/>
              </a:spcAft>
              <a:defRPr sz="1600">
                <a:solidFill>
                  <a:srgbClr val="222D3D"/>
                </a:solidFill>
              </a:defRPr>
            </a:pPr>
            <a:r>
              <a:t>Dashboards are powered by ES|QL, aggregations, runtime fields and full-text search.</a:t>
            </a:r>
          </a:p>
          <a:p>
            <a:pPr>
              <a:buChar char="•"/>
              <a:spcAft>
                <a:spcPts val="800"/>
              </a:spcAft>
              <a:defRPr sz="1600">
                <a:solidFill>
                  <a:srgbClr val="222D3D"/>
                </a:solidFill>
              </a:defRPr>
            </a:pPr>
            <a:r>
              <a:t>Designed to show both business value and technical Elasticsearch capabilities.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Data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Synthetic payment transaction dataset indexed into Elasticsearch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09,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33832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73152" cy="96012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463039"/>
            <a:ext cx="3063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Total Transactions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1764792"/>
            <a:ext cx="3063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1,000,000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325880"/>
            <a:ext cx="33832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34840" y="1325880"/>
            <a:ext cx="73152" cy="960120"/>
          </a:xfrm>
          <a:prstGeom prst="rect">
            <a:avLst/>
          </a:prstGeom>
          <a:solidFill>
            <a:srgbClr val="44A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8" y="1463039"/>
            <a:ext cx="3063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Total Revenue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1764792"/>
            <a:ext cx="3063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$35,128,691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325880"/>
            <a:ext cx="33832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75320" y="1325880"/>
            <a:ext cx="73152" cy="960120"/>
          </a:xfrm>
          <a:prstGeom prst="rect">
            <a:avLst/>
          </a:prstGeom>
          <a:solidFill>
            <a:srgbClr val="0095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76488" y="1463039"/>
            <a:ext cx="3063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Approval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76488" y="1764792"/>
            <a:ext cx="3063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93.02%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51760"/>
            <a:ext cx="33832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4360" y="2651760"/>
            <a:ext cx="73152" cy="960120"/>
          </a:xfrm>
          <a:prstGeom prst="rect">
            <a:avLst/>
          </a:prstGeom>
          <a:solidFill>
            <a:srgbClr val="EF8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" y="2788920"/>
            <a:ext cx="3063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Decline 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3090672"/>
            <a:ext cx="3063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5.00%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4840" y="2651760"/>
            <a:ext cx="33832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34840" y="2651760"/>
            <a:ext cx="73152" cy="960120"/>
          </a:xfrm>
          <a:prstGeom prst="rect">
            <a:avLst/>
          </a:prstGeom>
          <a:solidFill>
            <a:srgbClr val="705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36008" y="2788920"/>
            <a:ext cx="3063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Avg Processing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36008" y="3090672"/>
            <a:ext cx="3063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1,256 ms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75320" y="2651760"/>
            <a:ext cx="33832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75320" y="2651760"/>
            <a:ext cx="73152" cy="960120"/>
          </a:xfrm>
          <a:prstGeom prst="rect">
            <a:avLst/>
          </a:prstGeom>
          <a:solidFill>
            <a:srgbClr val="D24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76488" y="2788920"/>
            <a:ext cx="3063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P95 Processing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76488" y="3090672"/>
            <a:ext cx="3063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2,376 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251960"/>
            <a:ext cx="5212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spcAft>
                <a:spcPts val="800"/>
              </a:spcAft>
              <a:defRPr sz="1300">
                <a:solidFill>
                  <a:srgbClr val="222D3D"/>
                </a:solidFill>
              </a:defRPr>
            </a:pPr>
            <a:r>
              <a:t>Core fields: amount, country, merchant, payment method, status, latency, risk score.</a:t>
            </a:r>
          </a:p>
          <a:p>
            <a:pPr>
              <a:buChar char="•"/>
              <a:spcAft>
                <a:spcPts val="800"/>
              </a:spcAft>
              <a:defRPr sz="1300">
                <a:solidFill>
                  <a:srgbClr val="222D3D"/>
                </a:solidFill>
              </a:defRPr>
            </a:pPr>
            <a:r>
              <a:t>Additional fields: error_message and runtime fields for live calculations.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3675888"/>
            <a:ext cx="4023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142440"/>
                </a:solidFill>
              </a:defRPr>
            </a:pPr>
            <a:r>
              <a:t>Top countries by payment count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4023360"/>
            <a:ext cx="1554480" cy="347472"/>
          </a:xfrm>
          <a:prstGeom prst="rect">
            <a:avLst/>
          </a:prstGeom>
          <a:solidFill>
            <a:srgbClr val="14244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6520" y="4087368"/>
            <a:ext cx="14630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Country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79" y="4023360"/>
            <a:ext cx="1143000" cy="347472"/>
          </a:xfrm>
          <a:prstGeom prst="rect">
            <a:avLst/>
          </a:prstGeom>
          <a:solidFill>
            <a:srgbClr val="14244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01000" y="4087368"/>
            <a:ext cx="1051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Payments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098280" y="4023360"/>
            <a:ext cx="1325880" cy="347472"/>
          </a:xfrm>
          <a:prstGeom prst="rect">
            <a:avLst/>
          </a:prstGeom>
          <a:solidFill>
            <a:srgbClr val="14244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4087368"/>
            <a:ext cx="12344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Amount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4370832"/>
            <a:ext cx="15544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46520" y="4434840"/>
            <a:ext cx="14630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Singapore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955279" y="4370832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01000" y="4434840"/>
            <a:ext cx="1051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100,647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98280" y="4370832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0" y="4434840"/>
            <a:ext cx="12344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$4,098,473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4718304"/>
            <a:ext cx="15544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46520" y="4782312"/>
            <a:ext cx="14630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Brazil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955279" y="4718304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01000" y="4782312"/>
            <a:ext cx="1051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100,318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098280" y="4718304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44000" y="4782312"/>
            <a:ext cx="12344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$4,096,100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5065776"/>
            <a:ext cx="15544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46520" y="5129784"/>
            <a:ext cx="14630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United Kingdom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55279" y="5065776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01000" y="5129784"/>
            <a:ext cx="1051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100,297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98280" y="5065776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144000" y="5129784"/>
            <a:ext cx="12344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$4,101,933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0800" y="5413248"/>
            <a:ext cx="15544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46520" y="5477256"/>
            <a:ext cx="14630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India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955279" y="541324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001000" y="5477256"/>
            <a:ext cx="1051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100,058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098280" y="541324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144000" y="5477256"/>
            <a:ext cx="12344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$4,104,417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400800" y="5760720"/>
            <a:ext cx="15544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46520" y="5824728"/>
            <a:ext cx="14630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Canada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955279" y="5760720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01000" y="5824728"/>
            <a:ext cx="1051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99,976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098280" y="5760720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44000" y="5824728"/>
            <a:ext cx="12344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$4,094,552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Executive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Management-level view of payment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09,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20574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73152" cy="105156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37160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Total Transactions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673352"/>
            <a:ext cx="1737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1,000,000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39" y="1234440"/>
            <a:ext cx="20574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34639" y="1234440"/>
            <a:ext cx="73152" cy="1051560"/>
          </a:xfrm>
          <a:prstGeom prst="rect">
            <a:avLst/>
          </a:prstGeom>
          <a:solidFill>
            <a:srgbClr val="44A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35808" y="137160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Total Revenue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5808" y="1673352"/>
            <a:ext cx="1737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$35,128,691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66359" y="1234440"/>
            <a:ext cx="20574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66359" y="1234440"/>
            <a:ext cx="73152" cy="1051560"/>
          </a:xfrm>
          <a:prstGeom prst="rect">
            <a:avLst/>
          </a:prstGeom>
          <a:solidFill>
            <a:srgbClr val="0095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67527" y="137160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Approval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67527" y="1673352"/>
            <a:ext cx="1737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93.02%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1234440"/>
            <a:ext cx="20574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98079" y="1234440"/>
            <a:ext cx="73152" cy="1051560"/>
          </a:xfrm>
          <a:prstGeom prst="rect">
            <a:avLst/>
          </a:prstGeom>
          <a:solidFill>
            <a:srgbClr val="EF8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99248" y="137160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Decline 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99248" y="1673352"/>
            <a:ext cx="1737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5.00%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829800" y="1234440"/>
            <a:ext cx="20574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829800" y="1234440"/>
            <a:ext cx="73152" cy="1051560"/>
          </a:xfrm>
          <a:prstGeom prst="rect">
            <a:avLst/>
          </a:prstGeom>
          <a:solidFill>
            <a:srgbClr val="705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30968" y="137160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Avg Processing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1673352"/>
            <a:ext cx="1737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1,256 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880360"/>
            <a:ext cx="5212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KPI cards summarize transaction volume, revenue, approval and decline rates.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Trend chart shows transactions over time.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Breakdowns by country, merchant and payment method explain where volume comes from.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2834640"/>
            <a:ext cx="47548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0" y="2834640"/>
            <a:ext cx="73152" cy="201168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01968" y="2971800"/>
            <a:ext cx="4434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Business message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1968" y="3291840"/>
            <a:ext cx="4434840" cy="1325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Fast answer for leaders: Are payments healthy?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Combines financial metrics and operating metrics in one view.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80644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2"/>
              </a:rPr>
              <a:t>Open Executive Dashboard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Operational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Investigate failed payments and processing latency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09,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256032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234440"/>
            <a:ext cx="73152" cy="1005840"/>
          </a:xfrm>
          <a:prstGeom prst="rect">
            <a:avLst/>
          </a:prstGeom>
          <a:solidFill>
            <a:srgbClr val="D24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371600"/>
            <a:ext cx="22402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Failed Transactions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1673352"/>
            <a:ext cx="2240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51,887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39" y="1234440"/>
            <a:ext cx="256032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20439" y="1234440"/>
            <a:ext cx="73152" cy="1005840"/>
          </a:xfrm>
          <a:prstGeom prst="rect">
            <a:avLst/>
          </a:prstGeom>
          <a:solidFill>
            <a:srgbClr val="EF8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21607" y="1371600"/>
            <a:ext cx="22402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Failure 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7" y="1673352"/>
            <a:ext cx="2240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5.19%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234440"/>
            <a:ext cx="256032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1234440"/>
            <a:ext cx="73152" cy="1005840"/>
          </a:xfrm>
          <a:prstGeom prst="rect">
            <a:avLst/>
          </a:prstGeom>
          <a:solidFill>
            <a:srgbClr val="705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1371600"/>
            <a:ext cx="22402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High Latency Txns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1673352"/>
            <a:ext cx="2240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201,523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81159" y="1234440"/>
            <a:ext cx="256032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81159" y="1234440"/>
            <a:ext cx="73152" cy="100584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82328" y="1371600"/>
            <a:ext cx="22402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P95 Processing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82328" y="1673352"/>
            <a:ext cx="2240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2,376 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2807208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142440"/>
                </a:solidFill>
              </a:defRPr>
            </a:pPr>
            <a:r>
              <a:t>Top decline reasons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154680"/>
            <a:ext cx="2926080" cy="347472"/>
          </a:xfrm>
          <a:prstGeom prst="rect">
            <a:avLst/>
          </a:prstGeom>
          <a:solidFill>
            <a:srgbClr val="14244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218688"/>
            <a:ext cx="2834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Decline reason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03320" y="3154680"/>
            <a:ext cx="1005840" cy="347472"/>
          </a:xfrm>
          <a:prstGeom prst="rect">
            <a:avLst/>
          </a:prstGeom>
          <a:solidFill>
            <a:srgbClr val="14244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49039" y="3218688"/>
            <a:ext cx="914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Txns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502152"/>
            <a:ext cx="29260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566160"/>
            <a:ext cx="2834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Issuer declined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03320" y="3502152"/>
            <a:ext cx="10058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49039" y="3566160"/>
            <a:ext cx="914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21,029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849624"/>
            <a:ext cx="29260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3913632"/>
            <a:ext cx="2834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Processor timeout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03320" y="3849624"/>
            <a:ext cx="10058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49039" y="3913632"/>
            <a:ext cx="914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13,700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4197096"/>
            <a:ext cx="29260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261104"/>
            <a:ext cx="2834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ACH verification failed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703320" y="4197096"/>
            <a:ext cx="10058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749039" y="4261104"/>
            <a:ext cx="914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6,997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4544568"/>
            <a:ext cx="29260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4608576"/>
            <a:ext cx="2834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Wallet authorization failed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703320" y="4544568"/>
            <a:ext cx="10058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49039" y="4608576"/>
            <a:ext cx="914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6,986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7240" y="4892040"/>
            <a:ext cx="29260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960" y="4956048"/>
            <a:ext cx="2834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Amount limit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703320" y="4892040"/>
            <a:ext cx="10058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749039" y="4956048"/>
            <a:ext cx="914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1,250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0" y="2971800"/>
            <a:ext cx="5669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Drill-down tables expose the latest failed transactions and highest latency transactions.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Operations teams can isolate issues by country, payment method, merchant and reason.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Useful for incident response and payment processor troubleshooting.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589788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2"/>
              </a:rPr>
              <a:t>Open Operational Dashboard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503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Visibility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875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Service visibility view built from the current payment transaction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09,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173736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73152" cy="1005840"/>
          </a:xfrm>
          <a:prstGeom prst="rect">
            <a:avLst/>
          </a:prstGeom>
          <a:solidFill>
            <a:srgbClr val="44A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371600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Availability SLI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673352"/>
            <a:ext cx="141731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94.81%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23160" y="1234440"/>
            <a:ext cx="173736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23160" y="1234440"/>
            <a:ext cx="73152" cy="1005840"/>
          </a:xfrm>
          <a:prstGeom prst="rect">
            <a:avLst/>
          </a:prstGeom>
          <a:solidFill>
            <a:srgbClr val="EF8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24328" y="1371600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Failure 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673352"/>
            <a:ext cx="141731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5.19%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234440"/>
            <a:ext cx="173736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1234440"/>
            <a:ext cx="73152" cy="100584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44568" y="1371600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P95 Latency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8" y="1673352"/>
            <a:ext cx="141731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2,376 ms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234440"/>
            <a:ext cx="173736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1234440"/>
            <a:ext cx="73152" cy="1005840"/>
          </a:xfrm>
          <a:prstGeom prst="rect">
            <a:avLst/>
          </a:prstGeom>
          <a:solidFill>
            <a:srgbClr val="705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8" y="1371600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P99 Latency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4808" y="1673352"/>
            <a:ext cx="141731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2,475 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3880" y="1234440"/>
            <a:ext cx="173736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83880" y="1234440"/>
            <a:ext cx="73152" cy="1005840"/>
          </a:xfrm>
          <a:prstGeom prst="rect">
            <a:avLst/>
          </a:prstGeom>
          <a:solidFill>
            <a:srgbClr val="0095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85048" y="1371600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Latency SLO &lt;=2s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5048" y="1673352"/>
            <a:ext cx="141731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79.89%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04120" y="1234440"/>
            <a:ext cx="173736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104120" y="1234440"/>
            <a:ext cx="73152" cy="1005840"/>
          </a:xfrm>
          <a:prstGeom prst="rect">
            <a:avLst/>
          </a:prstGeom>
          <a:solidFill>
            <a:srgbClr val="D24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05288" y="1371600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Error Log Events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05288" y="1673352"/>
            <a:ext cx="141731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51,887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2788920"/>
            <a:ext cx="52120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Treats each payment transaction as a service event for payments-api.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Shows throughput, failure-rate and latency trends over time.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Uses error_message as application log events for troubleshooting.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Includes trace-style drill-down for slowest and failed transactions.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2788920"/>
            <a:ext cx="466344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0" y="2788920"/>
            <a:ext cx="73152" cy="2240280"/>
          </a:xfrm>
          <a:prstGeom prst="rect">
            <a:avLst/>
          </a:prstGeom>
          <a:solidFill>
            <a:srgbClr val="0095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1968" y="2926079"/>
            <a:ext cx="4343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Production extension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01968" y="3246120"/>
            <a:ext cx="4343400" cy="1554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Add real APM traces for end-to-end request paths.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Ingest application logs and infrastructure metrics.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Create alert rules and official Elastic SLO objects.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589788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2"/>
              </a:rPr>
              <a:t>Open Payments Visibility Dashboard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Anomaly Detection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Rule-based anomaly detection without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09,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256032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234440"/>
            <a:ext cx="73152" cy="1005840"/>
          </a:xfrm>
          <a:prstGeom prst="rect">
            <a:avLst/>
          </a:prstGeom>
          <a:solidFill>
            <a:srgbClr val="EF8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371600"/>
            <a:ext cx="22402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High Amount Txns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1673352"/>
            <a:ext cx="2240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5,259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39" y="1234440"/>
            <a:ext cx="256032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20439" y="1234440"/>
            <a:ext cx="73152" cy="1005840"/>
          </a:xfrm>
          <a:prstGeom prst="rect">
            <a:avLst/>
          </a:prstGeom>
          <a:solidFill>
            <a:srgbClr val="705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21607" y="1371600"/>
            <a:ext cx="22402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Off-hours Txns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7" y="1673352"/>
            <a:ext cx="2240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273,850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234440"/>
            <a:ext cx="256032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1234440"/>
            <a:ext cx="73152" cy="1005840"/>
          </a:xfrm>
          <a:prstGeom prst="rect">
            <a:avLst/>
          </a:prstGeom>
          <a:solidFill>
            <a:srgbClr val="D24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1371600"/>
            <a:ext cx="22402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High Decline Countries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1673352"/>
            <a:ext cx="2240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81159" y="1234440"/>
            <a:ext cx="256032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81159" y="1234440"/>
            <a:ext cx="73152" cy="1005840"/>
          </a:xfrm>
          <a:prstGeom prst="rect">
            <a:avLst/>
          </a:prstGeom>
          <a:solidFill>
            <a:srgbClr val="0095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82328" y="1371600"/>
            <a:ext cx="22402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Merchant Spikes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82328" y="1673352"/>
            <a:ext cx="2240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Detected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834640"/>
            <a:ext cx="52120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Flags transactions above an amount threshold.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Finds merchants with unusual volume increases.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Highlights countries with abnormal decline rates.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Shows payments outside business hours.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2834640"/>
            <a:ext cx="457200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0" y="2834640"/>
            <a:ext cx="73152" cy="2103120"/>
          </a:xfrm>
          <a:prstGeom prst="rect">
            <a:avLst/>
          </a:prstGeom>
          <a:solidFill>
            <a:srgbClr val="EF8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1968" y="2971800"/>
            <a:ext cx="4251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Demo thresholds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01968" y="3291840"/>
            <a:ext cx="4251960" cy="14173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High amount: amount &gt;= 250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Off-hours: before 06:00 or after 22:00 UTC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Country decline threshold: &gt;= 5.2%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9788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2"/>
              </a:rPr>
              <a:t>Open Anomaly Detection Dashboard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Payments World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Geographic distribution of payment count and total amount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09,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143000"/>
            <a:ext cx="50749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43000"/>
            <a:ext cx="73152" cy="201168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280160"/>
            <a:ext cx="4754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Map 1: Number of payments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600200"/>
            <a:ext cx="4754880" cy="1325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Country-level region map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Metric: payments = COUNT(*)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Uses ISO country codes internally for map matching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143000"/>
            <a:ext cx="50749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143000"/>
            <a:ext cx="73152" cy="2011680"/>
          </a:xfrm>
          <a:prstGeom prst="rect">
            <a:avLst/>
          </a:prstGeom>
          <a:solidFill>
            <a:srgbClr val="44A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6248" y="1280160"/>
            <a:ext cx="4754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Map 2: Total payment amount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1600200"/>
            <a:ext cx="4754880" cy="1325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Country-level region map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Metric: total_amount = SUM(amount)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Supporting table shows full country names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630168"/>
            <a:ext cx="4663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142440"/>
                </a:solidFill>
              </a:defRPr>
            </a:pPr>
            <a:r>
              <a:t>Top countries displayed with full names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977639"/>
            <a:ext cx="2011680" cy="347472"/>
          </a:xfrm>
          <a:prstGeom prst="rect">
            <a:avLst/>
          </a:prstGeom>
          <a:solidFill>
            <a:srgbClr val="14244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04164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Country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3977639"/>
            <a:ext cx="1188720" cy="347472"/>
          </a:xfrm>
          <a:prstGeom prst="rect">
            <a:avLst/>
          </a:prstGeom>
          <a:solidFill>
            <a:srgbClr val="14244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71800" y="4041648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Payments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0" y="3977639"/>
            <a:ext cx="1463040" cy="347472"/>
          </a:xfrm>
          <a:prstGeom prst="rect">
            <a:avLst/>
          </a:prstGeom>
          <a:solidFill>
            <a:srgbClr val="14244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60520" y="4041648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Amount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4325112"/>
            <a:ext cx="20116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389120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Singapore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26080" y="4325112"/>
            <a:ext cx="118872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71800" y="4389120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100,647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0" y="4325112"/>
            <a:ext cx="14630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60520" y="4389120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$4,098,473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4672583"/>
            <a:ext cx="20116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736592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Brazil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926080" y="4672583"/>
            <a:ext cx="118872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71800" y="473659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100,318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0" y="4672583"/>
            <a:ext cx="14630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60520" y="4736592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$4,096,100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5020056"/>
            <a:ext cx="20116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5084064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United Kingdom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26080" y="5020056"/>
            <a:ext cx="118872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71800" y="5084064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100,297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0" y="5020056"/>
            <a:ext cx="14630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60520" y="5084064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$4,101,933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5367527"/>
            <a:ext cx="20116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0120" y="5431536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India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26080" y="5367527"/>
            <a:ext cx="118872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71800" y="5431536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100,058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0" y="5367527"/>
            <a:ext cx="14630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60520" y="5431536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$4,104,417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14400" y="5715000"/>
            <a:ext cx="20116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0120" y="577900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Canada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26080" y="5715000"/>
            <a:ext cx="118872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71800" y="5779008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99,976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0" y="5715000"/>
            <a:ext cx="14630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160520" y="5779008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$4,094,552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598932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2"/>
              </a:rPr>
              <a:t>Open Payments World Map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Elasticsearch capabilities demonstrated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Search, analytics, runtime fields, schema management and lifecycle awareness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09,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143000"/>
            <a:ext cx="512064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143000"/>
            <a:ext cx="73152" cy="100584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280160"/>
            <a:ext cx="4800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Aggregations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1600200"/>
            <a:ext cx="4800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Revenue by merchant, approval rate by country, avg/P95 processing time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143000"/>
            <a:ext cx="512064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143000"/>
            <a:ext cx="73152" cy="1005840"/>
          </a:xfrm>
          <a:prstGeom prst="rect">
            <a:avLst/>
          </a:prstGeom>
          <a:solidFill>
            <a:srgbClr val="0095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6248" y="1280160"/>
            <a:ext cx="4800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Full-text search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1600200"/>
            <a:ext cx="4800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Transaction ID, merchant/category and error_message timeout searches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514600"/>
            <a:ext cx="512064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2514600"/>
            <a:ext cx="73152" cy="1005840"/>
          </a:xfrm>
          <a:prstGeom prst="rect">
            <a:avLst/>
          </a:prstGeom>
          <a:solidFill>
            <a:srgbClr val="705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" y="2651760"/>
            <a:ext cx="4800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Runtime fields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971800"/>
            <a:ext cx="4800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Live calculations for approval status, revenue, amount bands, country names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2514600"/>
            <a:ext cx="512064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55080" y="2514600"/>
            <a:ext cx="73152" cy="1005840"/>
          </a:xfrm>
          <a:prstGeom prst="rect">
            <a:avLst/>
          </a:prstGeom>
          <a:solidFill>
            <a:srgbClr val="EF8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56248" y="2651760"/>
            <a:ext cx="4800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Index templates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6248" y="2971800"/>
            <a:ext cx="4800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Reusable schema for future synthetic-transactions-* indices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886200"/>
            <a:ext cx="512064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3886200"/>
            <a:ext cx="73152" cy="1005840"/>
          </a:xfrm>
          <a:prstGeom prst="rect">
            <a:avLst/>
          </a:prstGeom>
          <a:solidFill>
            <a:srgbClr val="44A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6968" y="4023360"/>
            <a:ext cx="4800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Lifecycle / ILM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" y="4343400"/>
            <a:ext cx="4800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Serverless note plus hot/warm/delete ILM concept for Stack deployments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89788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2"/>
              </a:rPr>
              <a:t>Open Elasticsearch Capabilities Demo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Key insights to communicate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Business and technical outcomes from the dashboards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09,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23444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Payment approval rate is 93.02%, showing a healthy baseline.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Total synthetic revenue is approximately $35,128,691 across 1,000,000 transactions.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Operational risk: 51,887 failed transactions and 201,523 high-latency transactions.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Country and merchant breakdowns make it easy to explain where performance changes originate.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Runtime fields and ES|QL enable new calculations without reindexing the data.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7960" y="1325880"/>
            <a:ext cx="448056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37960" y="1325880"/>
            <a:ext cx="73152" cy="310896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39128" y="1463039"/>
            <a:ext cx="4160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Presentation narrative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39128" y="1783080"/>
            <a:ext cx="4160520" cy="2423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1. Start with executive KPIs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2. Show operational drill-down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3. Demonstrate anomaly monitoring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4. Close with Elasticsearch platform capabilities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Recommended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How to take the demo toward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09,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18872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spcAft>
                <a:spcPts val="800"/>
              </a:spcAft>
              <a:defRPr sz="1500">
                <a:solidFill>
                  <a:srgbClr val="222D3D"/>
                </a:solidFill>
              </a:defRPr>
            </a:pPr>
            <a:r>
              <a:t>Connect real payment streams or batch exports.</a:t>
            </a:r>
          </a:p>
          <a:p>
            <a:pPr>
              <a:buChar char="•"/>
              <a:spcAft>
                <a:spcPts val="800"/>
              </a:spcAft>
              <a:defRPr sz="1500">
                <a:solidFill>
                  <a:srgbClr val="222D3D"/>
                </a:solidFill>
              </a:defRPr>
            </a:pPr>
            <a:r>
              <a:t>Add alerts for high decline rate, high latency and off-hours spikes.</a:t>
            </a:r>
          </a:p>
          <a:p>
            <a:pPr>
              <a:buChar char="•"/>
              <a:spcAft>
                <a:spcPts val="800"/>
              </a:spcAft>
              <a:defRPr sz="1500">
                <a:solidFill>
                  <a:srgbClr val="222D3D"/>
                </a:solidFill>
              </a:defRPr>
            </a:pPr>
            <a:r>
              <a:t>Introduce ML anomaly detection after baseline behavior is established.</a:t>
            </a:r>
          </a:p>
          <a:p>
            <a:pPr>
              <a:buChar char="•"/>
              <a:spcAft>
                <a:spcPts val="800"/>
              </a:spcAft>
              <a:defRPr sz="1500">
                <a:solidFill>
                  <a:srgbClr val="222D3D"/>
                </a:solidFill>
              </a:defRPr>
            </a:pPr>
            <a:r>
              <a:t>Define production index lifecycle policy where ILM is available.</a:t>
            </a:r>
          </a:p>
          <a:p>
            <a:pPr>
              <a:buChar char="•"/>
              <a:spcAft>
                <a:spcPts val="800"/>
              </a:spcAft>
              <a:defRPr sz="1500">
                <a:solidFill>
                  <a:srgbClr val="222D3D"/>
                </a:solidFill>
              </a:defRPr>
            </a:pPr>
            <a:r>
              <a:t>Add role-based access and scheduled PDF/PNG dashboard reports.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325880"/>
            <a:ext cx="45720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1325880"/>
            <a:ext cx="73152" cy="1828800"/>
          </a:xfrm>
          <a:prstGeom prst="rect">
            <a:avLst/>
          </a:prstGeom>
          <a:solidFill>
            <a:srgbClr val="44A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1968" y="1463039"/>
            <a:ext cx="4251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Suggested closing statement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1968" y="1783080"/>
            <a:ext cx="425196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Elastic provides one platform for payment search, analytics, operations, anomaly detection and geographic insight.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3657600"/>
            <a:ext cx="457200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3657600"/>
            <a:ext cx="73152" cy="1463040"/>
          </a:xfrm>
          <a:prstGeom prst="rect">
            <a:avLst/>
          </a:prstGeom>
          <a:solidFill>
            <a:srgbClr val="705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1968" y="3794760"/>
            <a:ext cx="4251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Deliverable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1968" y="4114800"/>
            <a:ext cx="425196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This deck summarizes five live Kibana dashboards and the Elasticsearch capabilities behind them.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Appendix: live dashboard links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Use these links during the demo or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09,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234440"/>
            <a:ext cx="1060704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234440"/>
            <a:ext cx="73152" cy="68580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1371600"/>
            <a:ext cx="10287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Executive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1691640"/>
            <a:ext cx="10287000" cy="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https://payments-c225aa.kb.us-central1.gcp.elastic.cloud:443/app/dashboards#/view/4175393e-6f7a-4ff6-b800-0a6cc952fb08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55448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2"/>
              </a:rPr>
              <a:t>Open dashboard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103120"/>
            <a:ext cx="1060704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103120"/>
            <a:ext cx="73152" cy="68580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2240279"/>
            <a:ext cx="10287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Operational Dashboard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" y="2560320"/>
            <a:ext cx="10287000" cy="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https://payments-c225aa.kb.us-central1.gcp.elastic.cloud:443/app/dashboards#/view/f95d1796-ed29-40c4-af2c-a05a0f834039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42316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3"/>
              </a:rPr>
              <a:t>Open dashboard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971800"/>
            <a:ext cx="1060704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2971800"/>
            <a:ext cx="73152" cy="68580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3108960"/>
            <a:ext cx="10287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Anomaly Detection Dashboard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3429000"/>
            <a:ext cx="10287000" cy="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https://payments-c225aa.kb.us-central1.gcp.elastic.cloud:443/app/dashboards#/view/3b55a52b-7342-469d-8ebc-317ec4450018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29184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4"/>
              </a:rPr>
              <a:t>Open dashboard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840480"/>
            <a:ext cx="1060704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840480"/>
            <a:ext cx="73152" cy="68580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3977640"/>
            <a:ext cx="10287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Elasticsearch Capabilities Demo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4297680"/>
            <a:ext cx="10287000" cy="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https://payments-c225aa.kb.us-central1.gcp.elastic.cloud:443/app/dashboards#/view/d5e44534-8afb-438e-ae72-aa908ab2bb11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16052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5"/>
              </a:rPr>
              <a:t>Open dashboard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709160"/>
            <a:ext cx="1060704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709160"/>
            <a:ext cx="73152" cy="68580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8408" y="4846320"/>
            <a:ext cx="10287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Payments World Map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" y="5166360"/>
            <a:ext cx="10287000" cy="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https://payments-c225aa.kb.us-central1.gcp.elastic.cloud:443/app/dashboards#/view/9a0f1247-c2d0-475a-9d11-b5c21e950fa2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502920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6"/>
              </a:rPr>
              <a:t>Open dashboard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5577840"/>
            <a:ext cx="1060704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5577840"/>
            <a:ext cx="73152" cy="685800"/>
          </a:xfrm>
          <a:prstGeom prst="rect">
            <a:avLst/>
          </a:prstGeom>
          <a:solidFill>
            <a:srgbClr val="0095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78408" y="5715000"/>
            <a:ext cx="10287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Payments Visibility Dashboard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" y="6035040"/>
            <a:ext cx="10287000" cy="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https://payments-c225aa.kb.us-central1.gcp.elastic.cloud:443/app/dashboards#/view/250b10ed-6fa9-4032-bec9-8d7d1a3632f6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589788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7"/>
              </a:rPr>
              <a:t>Open dashboard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