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7" r:id="rId18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payments-c225aa.kb.us-central1.gcp.elastic.cloud:443/app/dashboards#/view/4175393e-6f7a-4ff6-b800-0a6cc952fb08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payments-c225aa.kb.us-central1.gcp.elastic.cloud:443/app/dashboards#/view/f95d1796-ed29-40c4-af2c-a05a0f834039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payments-c225aa.kb.us-central1.gcp.elastic.cloud:443/app/dashboards#/view/3b55a52b-7342-469d-8ebc-317ec4450018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payments-c225aa.kb.us-central1.gcp.elastic.cloud:443/app/dashboards#/view/9a0f1247-c2d0-475a-9d11-b5c21e950fa2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payments-c225aa.kb.us-central1.gcp.elastic.cloud:443/app/dashboards#/view/d5e44534-8afb-438e-ae72-aa908ab2bb11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payments-c225aa.kb.us-central1.gcp.elastic.cloud:443/app/dashboards#/view/4175393e-6f7a-4ff6-b800-0a6cc952fb08" TargetMode="External"/><Relationship Id="rId3" Type="http://schemas.openxmlformats.org/officeDocument/2006/relationships/hyperlink" Target="https://payments-c225aa.kb.us-central1.gcp.elastic.cloud:443/app/dashboards#/view/f95d1796-ed29-40c4-af2c-a05a0f834039" TargetMode="External"/><Relationship Id="rId4" Type="http://schemas.openxmlformats.org/officeDocument/2006/relationships/hyperlink" Target="https://payments-c225aa.kb.us-central1.gcp.elastic.cloud:443/app/dashboards#/view/3b55a52b-7342-469d-8ebc-317ec4450018" TargetMode="External"/><Relationship Id="rId5" Type="http://schemas.openxmlformats.org/officeDocument/2006/relationships/hyperlink" Target="https://payments-c225aa.kb.us-central1.gcp.elastic.cloud:443/app/dashboards#/view/d5e44534-8afb-438e-ae72-aa908ab2bb11" TargetMode="External"/><Relationship Id="rId6" Type="http://schemas.openxmlformats.org/officeDocument/2006/relationships/hyperlink" Target="https://payments-c225aa.kb.us-central1.gcp.elastic.cloud:443/app/dashboards#/view/9a0f1247-c2d0-475a-9d11-b5c21e950fa2" TargetMode="External"/><Relationship Id="rId7" Type="http://schemas.openxmlformats.org/officeDocument/2006/relationships/hyperlink" Target="https://payments-c225aa.kb.us-central1.gcp.elastic.cloud:443/app/dashboards#/view/250b10ed-6fa9-4032-bec9-8d7d1a3632f6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payments-c225aa.kb.us-central1.gcp.elastic.cloud:443/app/dashboards#/view/250b10ed-6fa9-4032-bec9-8d7d1a3632f6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55080"/>
            <a:ext cx="12191695" cy="164592"/>
          </a:xfrm>
          <a:prstGeom prst="rect">
            <a:avLst/>
          </a:prstGeom>
          <a:solidFill>
            <a:srgbClr val="0095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89611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Payments Analytics with Elastic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965960"/>
            <a:ext cx="98755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900">
                <a:solidFill>
                  <a:srgbClr val="D6E6F5"/>
                </a:solidFill>
              </a:defRPr>
            </a:pPr>
            <a:r>
              <a:t>Synthetic transactions • Elasticsearch analytics • Kibana dashboards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3063240"/>
            <a:ext cx="2377440" cy="1097280"/>
          </a:xfrm>
          <a:prstGeom prst="round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3063240"/>
            <a:ext cx="73152" cy="1097280"/>
          </a:xfrm>
          <a:prstGeom prst="rect">
            <a:avLst/>
          </a:prstGeom>
          <a:solidFill>
            <a:srgbClr val="0095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8408" y="3200400"/>
            <a:ext cx="2057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667487"/>
                </a:solidFill>
              </a:defRPr>
            </a:pPr>
            <a:r>
              <a:t>Transactions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8408" y="3502152"/>
            <a:ext cx="2057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42440"/>
                </a:solidFill>
              </a:defRPr>
            </a:pPr>
            <a:r>
              <a:t>1,000,000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37560" y="3063240"/>
            <a:ext cx="2377440" cy="1097280"/>
          </a:xfrm>
          <a:prstGeom prst="round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337560" y="3063240"/>
            <a:ext cx="73152" cy="1097280"/>
          </a:xfrm>
          <a:prstGeom prst="rect">
            <a:avLst/>
          </a:prstGeom>
          <a:solidFill>
            <a:srgbClr val="44A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38728" y="3200400"/>
            <a:ext cx="2057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667487"/>
                </a:solidFill>
              </a:defRPr>
            </a:pPr>
            <a:r>
              <a:t>Revenue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38728" y="3502152"/>
            <a:ext cx="2057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42440"/>
                </a:solidFill>
              </a:defRPr>
            </a:pPr>
            <a:r>
              <a:t>$35,128,691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897880" y="3063240"/>
            <a:ext cx="2377440" cy="1097280"/>
          </a:xfrm>
          <a:prstGeom prst="round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897880" y="3063240"/>
            <a:ext cx="73152" cy="1097280"/>
          </a:xfrm>
          <a:prstGeom prst="rect">
            <a:avLst/>
          </a:prstGeom>
          <a:solidFill>
            <a:srgbClr val="3673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99048" y="3200400"/>
            <a:ext cx="2057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667487"/>
                </a:solidFill>
              </a:defRPr>
            </a:pPr>
            <a:r>
              <a:t>Approval Rate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9048" y="3502152"/>
            <a:ext cx="2057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42440"/>
                </a:solidFill>
              </a:defRPr>
            </a:pPr>
            <a:r>
              <a:t>93.02%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458200" y="3063240"/>
            <a:ext cx="2377440" cy="1097280"/>
          </a:xfrm>
          <a:prstGeom prst="round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458200" y="3063240"/>
            <a:ext cx="73152" cy="1097280"/>
          </a:xfrm>
          <a:prstGeom prst="rect">
            <a:avLst/>
          </a:prstGeom>
          <a:solidFill>
            <a:srgbClr val="7058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59368" y="3200400"/>
            <a:ext cx="2057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667487"/>
                </a:solidFill>
              </a:defRPr>
            </a:pPr>
            <a:r>
              <a:t>Dashboards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59368" y="3502152"/>
            <a:ext cx="2057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42440"/>
                </a:solidFill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3673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80467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42440"/>
                </a:solidFill>
              </a:defRPr>
            </a:pPr>
            <a:r>
              <a:t>What was built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2296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667487"/>
                </a:solidFill>
              </a:defRPr>
            </a:pPr>
            <a:r>
              <a:t>A complete payments analytics demo using Elasticsearch + Kibana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67487"/>
                </a:solidFill>
              </a:defRPr>
            </a:pPr>
            <a:r>
              <a:t>Elastic Payments Analytics 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0" y="6446520"/>
            <a:ext cx="2377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667487"/>
                </a:solidFill>
              </a:defRPr>
            </a:pPr>
            <a:r>
              <a:t>Jun 09,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554480"/>
            <a:ext cx="3246120" cy="1508760"/>
          </a:xfrm>
          <a:prstGeom prst="round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554480"/>
            <a:ext cx="73152" cy="1508760"/>
          </a:xfrm>
          <a:prstGeom prst="rect">
            <a:avLst/>
          </a:prstGeom>
          <a:solidFill>
            <a:srgbClr val="3673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91639"/>
            <a:ext cx="292607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667487"/>
                </a:solidFill>
              </a:defRPr>
            </a:pPr>
            <a:r>
              <a:t>1M synthetic payments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011680"/>
            <a:ext cx="2926079" cy="82295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300"/>
              </a:spcAft>
              <a:defRPr sz="950">
                <a:solidFill>
                  <a:srgbClr val="222D3D"/>
                </a:solidFill>
              </a:defRPr>
            </a:pPr>
            <a:r>
              <a:t>Generated and streamed using the Bulk API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794760" y="1920240"/>
            <a:ext cx="502920" cy="502920"/>
          </a:xfrm>
          <a:prstGeom prst="rightArrow">
            <a:avLst/>
          </a:prstGeom>
          <a:solidFill>
            <a:srgbClr val="EF8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526280" y="1554480"/>
            <a:ext cx="3246120" cy="1508760"/>
          </a:xfrm>
          <a:prstGeom prst="round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26280" y="1554480"/>
            <a:ext cx="73152" cy="1508760"/>
          </a:xfrm>
          <a:prstGeom prst="rect">
            <a:avLst/>
          </a:prstGeom>
          <a:solidFill>
            <a:srgbClr val="0095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27448" y="1691639"/>
            <a:ext cx="292607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667487"/>
                </a:solidFill>
              </a:defRPr>
            </a:pPr>
            <a:r>
              <a:t>Elasticsearch index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27448" y="2011680"/>
            <a:ext cx="2926079" cy="82295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300"/>
              </a:spcAft>
              <a:defRPr sz="950">
                <a:solidFill>
                  <a:srgbClr val="222D3D"/>
                </a:solidFill>
              </a:defRPr>
            </a:pPr>
            <a:r>
              <a:t>Search, aggregations, runtime fields, templates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7589520" y="1920240"/>
            <a:ext cx="502920" cy="502920"/>
          </a:xfrm>
          <a:prstGeom prst="rightArrow">
            <a:avLst/>
          </a:prstGeom>
          <a:solidFill>
            <a:srgbClr val="EF8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321040" y="1554480"/>
            <a:ext cx="3246120" cy="1508760"/>
          </a:xfrm>
          <a:prstGeom prst="round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321040" y="1554480"/>
            <a:ext cx="73152" cy="1508760"/>
          </a:xfrm>
          <a:prstGeom prst="rect">
            <a:avLst/>
          </a:prstGeom>
          <a:solidFill>
            <a:srgbClr val="7058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22208" y="1691639"/>
            <a:ext cx="292607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667487"/>
                </a:solidFill>
              </a:defRPr>
            </a:pPr>
            <a:r>
              <a:t>Kibana dashboards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22208" y="2011680"/>
            <a:ext cx="2926079" cy="82295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300"/>
              </a:spcAft>
              <a:defRPr sz="950">
                <a:solidFill>
                  <a:srgbClr val="222D3D"/>
                </a:solidFill>
              </a:defRPr>
            </a:pPr>
            <a:r>
              <a:t>Executive, operational, anomalies, maps, capabilities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3794760"/>
            <a:ext cx="102412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Char char="•"/>
              <a:spcAft>
                <a:spcPts val="800"/>
              </a:spcAft>
              <a:defRPr sz="1600">
                <a:solidFill>
                  <a:srgbClr val="222D3D"/>
                </a:solidFill>
              </a:defRPr>
            </a:pPr>
            <a:r>
              <a:t>End-to-end demonstration from data generation to executive insights.</a:t>
            </a:r>
          </a:p>
          <a:p>
            <a:pPr>
              <a:buChar char="•"/>
              <a:spcAft>
                <a:spcPts val="800"/>
              </a:spcAft>
              <a:defRPr sz="1600">
                <a:solidFill>
                  <a:srgbClr val="222D3D"/>
                </a:solidFill>
              </a:defRPr>
            </a:pPr>
            <a:r>
              <a:t>Dashboards are powered by ES|QL, aggregations, runtime fields and full-text search.</a:t>
            </a:r>
          </a:p>
          <a:p>
            <a:pPr>
              <a:buChar char="•"/>
              <a:spcAft>
                <a:spcPts val="800"/>
              </a:spcAft>
              <a:defRPr sz="1600">
                <a:solidFill>
                  <a:srgbClr val="222D3D"/>
                </a:solidFill>
              </a:defRPr>
            </a:pPr>
            <a:r>
              <a:t>Designed to show both business value and technical Elasticsearch capabilities.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3673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80467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42440"/>
                </a:solidFill>
              </a:defRPr>
            </a:pPr>
            <a:r>
              <a:t>Data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2296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667487"/>
                </a:solidFill>
              </a:defRPr>
            </a:pPr>
            <a:r>
              <a:t>Synthetic payment transaction dataset indexed into Elasticsearch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67487"/>
                </a:solidFill>
              </a:defRPr>
            </a:pPr>
            <a:r>
              <a:t>Elastic Payments Analytics 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0" y="6446520"/>
            <a:ext cx="2377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667487"/>
                </a:solidFill>
              </a:defRPr>
            </a:pPr>
            <a:r>
              <a:t>Jun 09,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1325880"/>
            <a:ext cx="338328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325880"/>
            <a:ext cx="73152" cy="960120"/>
          </a:xfrm>
          <a:prstGeom prst="rect">
            <a:avLst/>
          </a:prstGeom>
          <a:solidFill>
            <a:srgbClr val="3673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5528" y="1463039"/>
            <a:ext cx="3063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667487"/>
                </a:solidFill>
              </a:defRPr>
            </a:pPr>
            <a:r>
              <a:t>Total Transactions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5528" y="1764792"/>
            <a:ext cx="30632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42440"/>
                </a:solidFill>
              </a:defRPr>
            </a:pPr>
            <a:r>
              <a:t>1,000,000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34840" y="1325880"/>
            <a:ext cx="338328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34840" y="1325880"/>
            <a:ext cx="73152" cy="960120"/>
          </a:xfrm>
          <a:prstGeom prst="rect">
            <a:avLst/>
          </a:prstGeom>
          <a:solidFill>
            <a:srgbClr val="44A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8" y="1463039"/>
            <a:ext cx="3063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667487"/>
                </a:solidFill>
              </a:defRPr>
            </a:pPr>
            <a:r>
              <a:t>Total Revenue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36008" y="1764792"/>
            <a:ext cx="30632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42440"/>
                </a:solidFill>
              </a:defRPr>
            </a:pPr>
            <a:r>
              <a:t>$35,128,691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75320" y="1325880"/>
            <a:ext cx="338328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75320" y="1325880"/>
            <a:ext cx="73152" cy="960120"/>
          </a:xfrm>
          <a:prstGeom prst="rect">
            <a:avLst/>
          </a:prstGeom>
          <a:solidFill>
            <a:srgbClr val="0095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76488" y="1463039"/>
            <a:ext cx="3063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667487"/>
                </a:solidFill>
              </a:defRPr>
            </a:pPr>
            <a:r>
              <a:t>Approval Rate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76488" y="1764792"/>
            <a:ext cx="30632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42440"/>
                </a:solidFill>
              </a:defRPr>
            </a:pPr>
            <a:r>
              <a:t>93.02%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4360" y="2651760"/>
            <a:ext cx="338328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94360" y="2651760"/>
            <a:ext cx="73152" cy="960120"/>
          </a:xfrm>
          <a:prstGeom prst="rect">
            <a:avLst/>
          </a:prstGeom>
          <a:solidFill>
            <a:srgbClr val="EF8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95528" y="2788920"/>
            <a:ext cx="3063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667487"/>
                </a:solidFill>
              </a:defRPr>
            </a:pPr>
            <a:r>
              <a:t>Decline Rate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5528" y="3090672"/>
            <a:ext cx="30632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42440"/>
                </a:solidFill>
              </a:defRPr>
            </a:pPr>
            <a:r>
              <a:t>5.00%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434840" y="2651760"/>
            <a:ext cx="338328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434840" y="2651760"/>
            <a:ext cx="73152" cy="960120"/>
          </a:xfrm>
          <a:prstGeom prst="rect">
            <a:avLst/>
          </a:prstGeom>
          <a:solidFill>
            <a:srgbClr val="7058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636008" y="2788920"/>
            <a:ext cx="3063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667487"/>
                </a:solidFill>
              </a:defRPr>
            </a:pPr>
            <a:r>
              <a:t>Avg Processing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36008" y="3090672"/>
            <a:ext cx="30632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42440"/>
                </a:solidFill>
              </a:defRPr>
            </a:pPr>
            <a:r>
              <a:t>1,256 ms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275320" y="2651760"/>
            <a:ext cx="338328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275320" y="2651760"/>
            <a:ext cx="73152" cy="960120"/>
          </a:xfrm>
          <a:prstGeom prst="rect">
            <a:avLst/>
          </a:prstGeom>
          <a:solidFill>
            <a:srgbClr val="D248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476488" y="2788920"/>
            <a:ext cx="3063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667487"/>
                </a:solidFill>
              </a:defRPr>
            </a:pPr>
            <a:r>
              <a:t>P95 Processing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76488" y="3090672"/>
            <a:ext cx="30632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42440"/>
                </a:solidFill>
              </a:defRPr>
            </a:pPr>
            <a:r>
              <a:t>2,376 ms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4251960"/>
            <a:ext cx="52120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Char char="•"/>
              <a:spcAft>
                <a:spcPts val="800"/>
              </a:spcAft>
              <a:defRPr sz="1300">
                <a:solidFill>
                  <a:srgbClr val="222D3D"/>
                </a:solidFill>
              </a:defRPr>
            </a:pPr>
            <a:r>
              <a:t>Core fields: amount, country, merchant, payment method, status, latency, risk score.</a:t>
            </a:r>
          </a:p>
          <a:p>
            <a:pPr>
              <a:buChar char="•"/>
              <a:spcAft>
                <a:spcPts val="800"/>
              </a:spcAft>
              <a:defRPr sz="1300">
                <a:solidFill>
                  <a:srgbClr val="222D3D"/>
                </a:solidFill>
              </a:defRPr>
            </a:pPr>
            <a:r>
              <a:t>Additional fields: error_message and runtime fields for live calculations.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3675888"/>
            <a:ext cx="40233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200">
                <a:solidFill>
                  <a:srgbClr val="142440"/>
                </a:solidFill>
              </a:defRPr>
            </a:pPr>
            <a:r>
              <a:t>Top countries by payment count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0" y="4023360"/>
            <a:ext cx="1554480" cy="347472"/>
          </a:xfrm>
          <a:prstGeom prst="rect">
            <a:avLst/>
          </a:prstGeom>
          <a:solidFill>
            <a:srgbClr val="14244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46520" y="4087368"/>
            <a:ext cx="1463039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 b="1">
                <a:solidFill>
                  <a:srgbClr val="FFFFFF"/>
                </a:solidFill>
              </a:defRPr>
            </a:pPr>
            <a:r>
              <a:t>Country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955279" y="4023360"/>
            <a:ext cx="1143000" cy="347472"/>
          </a:xfrm>
          <a:prstGeom prst="rect">
            <a:avLst/>
          </a:prstGeom>
          <a:solidFill>
            <a:srgbClr val="14244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001000" y="4087368"/>
            <a:ext cx="10515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 b="1">
                <a:solidFill>
                  <a:srgbClr val="FFFFFF"/>
                </a:solidFill>
              </a:defRPr>
            </a:pPr>
            <a:r>
              <a:t>Payments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098280" y="4023360"/>
            <a:ext cx="1325880" cy="347472"/>
          </a:xfrm>
          <a:prstGeom prst="rect">
            <a:avLst/>
          </a:prstGeom>
          <a:solidFill>
            <a:srgbClr val="14244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44000" y="4087368"/>
            <a:ext cx="1234439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 b="1">
                <a:solidFill>
                  <a:srgbClr val="FFFFFF"/>
                </a:solidFill>
              </a:defRPr>
            </a:pPr>
            <a:r>
              <a:t>Amount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400800" y="4370832"/>
            <a:ext cx="155448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46520" y="4434840"/>
            <a:ext cx="1463039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222D3D"/>
                </a:solidFill>
              </a:defRPr>
            </a:pPr>
            <a:r>
              <a:t>Singapore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955279" y="4370832"/>
            <a:ext cx="114300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001000" y="4434840"/>
            <a:ext cx="10515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222D3D"/>
                </a:solidFill>
              </a:defRPr>
            </a:pPr>
            <a:r>
              <a:t>100,647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098280" y="4370832"/>
            <a:ext cx="132588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144000" y="4434840"/>
            <a:ext cx="1234439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222D3D"/>
                </a:solidFill>
              </a:defRPr>
            </a:pPr>
            <a:r>
              <a:t>$4,098,473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400800" y="4718304"/>
            <a:ext cx="155448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446520" y="4782312"/>
            <a:ext cx="1463039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222D3D"/>
                </a:solidFill>
              </a:defRPr>
            </a:pPr>
            <a:r>
              <a:t>Brazil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955279" y="4718304"/>
            <a:ext cx="114300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001000" y="4782312"/>
            <a:ext cx="10515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222D3D"/>
                </a:solidFill>
              </a:defRPr>
            </a:pPr>
            <a:r>
              <a:t>100,318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098280" y="4718304"/>
            <a:ext cx="132588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144000" y="4782312"/>
            <a:ext cx="1234439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222D3D"/>
                </a:solidFill>
              </a:defRPr>
            </a:pPr>
            <a:r>
              <a:t>$4,096,100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400800" y="5065776"/>
            <a:ext cx="155448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446520" y="5129784"/>
            <a:ext cx="1463039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222D3D"/>
                </a:solidFill>
              </a:defRPr>
            </a:pPr>
            <a:r>
              <a:t>United Kingdom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955279" y="5065776"/>
            <a:ext cx="114300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001000" y="5129784"/>
            <a:ext cx="10515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222D3D"/>
                </a:solidFill>
              </a:defRPr>
            </a:pPr>
            <a:r>
              <a:t>100,297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098280" y="5065776"/>
            <a:ext cx="132588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144000" y="5129784"/>
            <a:ext cx="1234439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222D3D"/>
                </a:solidFill>
              </a:defRPr>
            </a:pPr>
            <a:r>
              <a:t>$4,101,933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400800" y="5413248"/>
            <a:ext cx="155448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446520" y="5477256"/>
            <a:ext cx="1463039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222D3D"/>
                </a:solidFill>
              </a:defRPr>
            </a:pPr>
            <a:r>
              <a:t>India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955279" y="5413248"/>
            <a:ext cx="114300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001000" y="5477256"/>
            <a:ext cx="10515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222D3D"/>
                </a:solidFill>
              </a:defRPr>
            </a:pPr>
            <a:r>
              <a:t>100,058</a:t>
            </a:r>
          </a:p>
        </p:txBody>
      </p:sp>
      <p:sp>
        <p:nvSpPr>
          <p:cNvPr id="61" name="Rectangle 60"/>
          <p:cNvSpPr/>
          <p:nvPr/>
        </p:nvSpPr>
        <p:spPr>
          <a:xfrm>
            <a:off x="9098280" y="5413248"/>
            <a:ext cx="132588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144000" y="5477256"/>
            <a:ext cx="1234439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222D3D"/>
                </a:solidFill>
              </a:defRPr>
            </a:pPr>
            <a:r>
              <a:t>$4,104,417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400800" y="5760720"/>
            <a:ext cx="155448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446520" y="5824728"/>
            <a:ext cx="1463039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222D3D"/>
                </a:solidFill>
              </a:defRPr>
            </a:pPr>
            <a:r>
              <a:t>Canada</a:t>
            </a:r>
          </a:p>
        </p:txBody>
      </p:sp>
      <p:sp>
        <p:nvSpPr>
          <p:cNvPr id="65" name="Rectangle 64"/>
          <p:cNvSpPr/>
          <p:nvPr/>
        </p:nvSpPr>
        <p:spPr>
          <a:xfrm>
            <a:off x="7955279" y="5760720"/>
            <a:ext cx="114300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001000" y="5824728"/>
            <a:ext cx="10515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222D3D"/>
                </a:solidFill>
              </a:defRPr>
            </a:pPr>
            <a:r>
              <a:t>99,976</a:t>
            </a:r>
          </a:p>
        </p:txBody>
      </p:sp>
      <p:sp>
        <p:nvSpPr>
          <p:cNvPr id="67" name="Rectangle 66"/>
          <p:cNvSpPr/>
          <p:nvPr/>
        </p:nvSpPr>
        <p:spPr>
          <a:xfrm>
            <a:off x="9098280" y="5760720"/>
            <a:ext cx="132588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9144000" y="5824728"/>
            <a:ext cx="1234439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222D3D"/>
                </a:solidFill>
              </a:defRPr>
            </a:pPr>
            <a:r>
              <a:t>$4,094,552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3673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80467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42440"/>
                </a:solidFill>
              </a:defRPr>
            </a:pPr>
            <a:r>
              <a:t>Executive Dashboard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2296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667487"/>
                </a:solidFill>
              </a:defRPr>
            </a:pPr>
            <a:r>
              <a:t>Management-level view of payment performance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67487"/>
                </a:solidFill>
              </a:defRPr>
            </a:pPr>
            <a:r>
              <a:t>Elastic Payments Analytics 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0" y="6446520"/>
            <a:ext cx="2377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667487"/>
                </a:solidFill>
              </a:defRPr>
            </a:pPr>
            <a:r>
              <a:t>Jun 09,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234440"/>
            <a:ext cx="2057400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234440"/>
            <a:ext cx="73152" cy="1051560"/>
          </a:xfrm>
          <a:prstGeom prst="rect">
            <a:avLst/>
          </a:prstGeom>
          <a:solidFill>
            <a:srgbClr val="3673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4088" y="1371600"/>
            <a:ext cx="17373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667487"/>
                </a:solidFill>
              </a:defRPr>
            </a:pPr>
            <a:r>
              <a:t>Total Transactions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" y="1673352"/>
            <a:ext cx="17373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42440"/>
                </a:solidFill>
              </a:defRPr>
            </a:pPr>
            <a:r>
              <a:t>1,000,000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34639" y="1234440"/>
            <a:ext cx="2057400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834639" y="1234440"/>
            <a:ext cx="73152" cy="1051560"/>
          </a:xfrm>
          <a:prstGeom prst="rect">
            <a:avLst/>
          </a:prstGeom>
          <a:solidFill>
            <a:srgbClr val="44A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35808" y="1371600"/>
            <a:ext cx="17373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667487"/>
                </a:solidFill>
              </a:defRPr>
            </a:pPr>
            <a:r>
              <a:t>Total Revenue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35808" y="1673352"/>
            <a:ext cx="17373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42440"/>
                </a:solidFill>
              </a:defRPr>
            </a:pPr>
            <a:r>
              <a:t>$35,128,691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166359" y="1234440"/>
            <a:ext cx="2057400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166359" y="1234440"/>
            <a:ext cx="73152" cy="1051560"/>
          </a:xfrm>
          <a:prstGeom prst="rect">
            <a:avLst/>
          </a:prstGeom>
          <a:solidFill>
            <a:srgbClr val="0095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67527" y="1371600"/>
            <a:ext cx="17373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667487"/>
                </a:solidFill>
              </a:defRPr>
            </a:pPr>
            <a:r>
              <a:t>Approval Rate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67527" y="1673352"/>
            <a:ext cx="17373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42440"/>
                </a:solidFill>
              </a:defRPr>
            </a:pPr>
            <a:r>
              <a:t>93.02%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98079" y="1234440"/>
            <a:ext cx="2057400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498079" y="1234440"/>
            <a:ext cx="73152" cy="1051560"/>
          </a:xfrm>
          <a:prstGeom prst="rect">
            <a:avLst/>
          </a:prstGeom>
          <a:solidFill>
            <a:srgbClr val="EF8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99248" y="1371600"/>
            <a:ext cx="17373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667487"/>
                </a:solidFill>
              </a:defRPr>
            </a:pPr>
            <a:r>
              <a:t>Decline Rate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99248" y="1673352"/>
            <a:ext cx="17373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42440"/>
                </a:solidFill>
              </a:defRPr>
            </a:pPr>
            <a:r>
              <a:t>5.00%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829800" y="1234440"/>
            <a:ext cx="2057400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829800" y="1234440"/>
            <a:ext cx="73152" cy="1051560"/>
          </a:xfrm>
          <a:prstGeom prst="rect">
            <a:avLst/>
          </a:prstGeom>
          <a:solidFill>
            <a:srgbClr val="7058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30968" y="1371600"/>
            <a:ext cx="17373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667487"/>
                </a:solidFill>
              </a:defRPr>
            </a:pPr>
            <a:r>
              <a:t>Avg Processing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30968" y="1673352"/>
            <a:ext cx="17373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42440"/>
                </a:solidFill>
              </a:defRPr>
            </a:pPr>
            <a:r>
              <a:t>1,256 ms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2880360"/>
            <a:ext cx="52120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Char char="•"/>
              <a:spcAft>
                <a:spcPts val="800"/>
              </a:spcAft>
              <a:defRPr sz="1400">
                <a:solidFill>
                  <a:srgbClr val="222D3D"/>
                </a:solidFill>
              </a:defRPr>
            </a:pPr>
            <a:r>
              <a:t>KPI cards summarize transaction volume, revenue, approval and decline rates.</a:t>
            </a:r>
          </a:p>
          <a:p>
            <a:pPr>
              <a:buChar char="•"/>
              <a:spcAft>
                <a:spcPts val="800"/>
              </a:spcAft>
              <a:defRPr sz="1400">
                <a:solidFill>
                  <a:srgbClr val="222D3D"/>
                </a:solidFill>
              </a:defRPr>
            </a:pPr>
            <a:r>
              <a:t>Trend chart shows transactions over time.</a:t>
            </a:r>
          </a:p>
          <a:p>
            <a:pPr>
              <a:buChar char="•"/>
              <a:spcAft>
                <a:spcPts val="800"/>
              </a:spcAft>
              <a:defRPr sz="1400">
                <a:solidFill>
                  <a:srgbClr val="222D3D"/>
                </a:solidFill>
              </a:defRPr>
            </a:pPr>
            <a:r>
              <a:t>Breakdowns by country, merchant and payment method explain where volume comes from.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00800" y="2834640"/>
            <a:ext cx="475488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400800" y="2834640"/>
            <a:ext cx="73152" cy="2011680"/>
          </a:xfrm>
          <a:prstGeom prst="rect">
            <a:avLst/>
          </a:prstGeom>
          <a:solidFill>
            <a:srgbClr val="3673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01968" y="2971800"/>
            <a:ext cx="4434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667487"/>
                </a:solidFill>
              </a:defRPr>
            </a:pPr>
            <a:r>
              <a:t>Business message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01968" y="3291840"/>
            <a:ext cx="4434840" cy="1325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300"/>
              </a:spcAft>
              <a:defRPr sz="950">
                <a:solidFill>
                  <a:srgbClr val="222D3D"/>
                </a:solidFill>
              </a:defRPr>
            </a:pPr>
            <a:r>
              <a:t>Fast answer for leaders: Are payments healthy?</a:t>
            </a:r>
          </a:p>
          <a:p>
            <a:pPr>
              <a:spcAft>
                <a:spcPts val="300"/>
              </a:spcAft>
              <a:defRPr sz="950">
                <a:solidFill>
                  <a:srgbClr val="222D3D"/>
                </a:solidFill>
              </a:defRPr>
            </a:pPr>
            <a:r>
              <a:t>Combines financial metrics and operating metrics in one view.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5806440"/>
            <a:ext cx="73152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u="sng">
                <a:solidFill>
                  <a:srgbClr val="3673C8"/>
                </a:solidFill>
                <a:hlinkClick r:id="rId2"/>
              </a:rPr>
              <a:t>Open Executive Dashboard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3673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80467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42440"/>
                </a:solidFill>
              </a:defRPr>
            </a:pPr>
            <a:r>
              <a:t>Operational Dashboard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2296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667487"/>
                </a:solidFill>
              </a:defRPr>
            </a:pPr>
            <a:r>
              <a:t>Investigate failed payments and processing latency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67487"/>
                </a:solidFill>
              </a:defRPr>
            </a:pPr>
            <a:r>
              <a:t>Elastic Payments Analytics 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0" y="6446520"/>
            <a:ext cx="2377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667487"/>
                </a:solidFill>
              </a:defRPr>
            </a:pPr>
            <a:r>
              <a:t>Jun 09,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234440"/>
            <a:ext cx="2560320" cy="1005840"/>
          </a:xfrm>
          <a:prstGeom prst="round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234440"/>
            <a:ext cx="73152" cy="1005840"/>
          </a:xfrm>
          <a:prstGeom prst="rect">
            <a:avLst/>
          </a:prstGeom>
          <a:solidFill>
            <a:srgbClr val="D248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7" y="1371600"/>
            <a:ext cx="224027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667487"/>
                </a:solidFill>
              </a:defRPr>
            </a:pPr>
            <a:r>
              <a:t>Failed Transactions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7" y="1673352"/>
            <a:ext cx="2240279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42440"/>
                </a:solidFill>
              </a:defRPr>
            </a:pPr>
            <a:r>
              <a:t>51,887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0439" y="1234440"/>
            <a:ext cx="2560320" cy="1005840"/>
          </a:xfrm>
          <a:prstGeom prst="round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520439" y="1234440"/>
            <a:ext cx="73152" cy="1005840"/>
          </a:xfrm>
          <a:prstGeom prst="rect">
            <a:avLst/>
          </a:prstGeom>
          <a:solidFill>
            <a:srgbClr val="EF8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21607" y="1371600"/>
            <a:ext cx="224027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667487"/>
                </a:solidFill>
              </a:defRPr>
            </a:pPr>
            <a:r>
              <a:t>Failure Rate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21607" y="1673352"/>
            <a:ext cx="2240279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42440"/>
                </a:solidFill>
              </a:defRPr>
            </a:pPr>
            <a:r>
              <a:t>5.19%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0" y="1234440"/>
            <a:ext cx="2560320" cy="1005840"/>
          </a:xfrm>
          <a:prstGeom prst="round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0" y="1234440"/>
            <a:ext cx="73152" cy="1005840"/>
          </a:xfrm>
          <a:prstGeom prst="rect">
            <a:avLst/>
          </a:prstGeom>
          <a:solidFill>
            <a:srgbClr val="7058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1968" y="1371600"/>
            <a:ext cx="224027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667487"/>
                </a:solidFill>
              </a:defRPr>
            </a:pPr>
            <a:r>
              <a:t>High Latency Txns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01968" y="1673352"/>
            <a:ext cx="2240279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42440"/>
                </a:solidFill>
              </a:defRPr>
            </a:pPr>
            <a:r>
              <a:t>201,523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281159" y="1234440"/>
            <a:ext cx="2560320" cy="1005840"/>
          </a:xfrm>
          <a:prstGeom prst="round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281159" y="1234440"/>
            <a:ext cx="73152" cy="1005840"/>
          </a:xfrm>
          <a:prstGeom prst="rect">
            <a:avLst/>
          </a:prstGeom>
          <a:solidFill>
            <a:srgbClr val="3673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82328" y="1371600"/>
            <a:ext cx="224027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667487"/>
                </a:solidFill>
              </a:defRPr>
            </a:pPr>
            <a:r>
              <a:t>P95 Processing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82328" y="1673352"/>
            <a:ext cx="2240279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42440"/>
                </a:solidFill>
              </a:defRPr>
            </a:pPr>
            <a:r>
              <a:t>2,376 ms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2807208"/>
            <a:ext cx="3931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200">
                <a:solidFill>
                  <a:srgbClr val="142440"/>
                </a:solidFill>
              </a:defRPr>
            </a:pPr>
            <a:r>
              <a:t>Top decline reasons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77240" y="3154680"/>
            <a:ext cx="2926080" cy="347472"/>
          </a:xfrm>
          <a:prstGeom prst="rect">
            <a:avLst/>
          </a:prstGeom>
          <a:solidFill>
            <a:srgbClr val="14244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3218688"/>
            <a:ext cx="28346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 b="1">
                <a:solidFill>
                  <a:srgbClr val="FFFFFF"/>
                </a:solidFill>
              </a:defRPr>
            </a:pPr>
            <a:r>
              <a:t>Decline reason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703320" y="3154680"/>
            <a:ext cx="1005840" cy="347472"/>
          </a:xfrm>
          <a:prstGeom prst="rect">
            <a:avLst/>
          </a:prstGeom>
          <a:solidFill>
            <a:srgbClr val="14244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749039" y="3218688"/>
            <a:ext cx="9144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 b="1">
                <a:solidFill>
                  <a:srgbClr val="FFFFFF"/>
                </a:solidFill>
              </a:defRPr>
            </a:pPr>
            <a:r>
              <a:t>Txns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77240" y="3502152"/>
            <a:ext cx="292608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3566160"/>
            <a:ext cx="28346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222D3D"/>
                </a:solidFill>
              </a:defRPr>
            </a:pPr>
            <a:r>
              <a:t>Issuer declined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703320" y="3502152"/>
            <a:ext cx="100584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749039" y="3566160"/>
            <a:ext cx="9144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222D3D"/>
                </a:solidFill>
              </a:defRPr>
            </a:pPr>
            <a:r>
              <a:t>21,029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77240" y="3849624"/>
            <a:ext cx="292608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2960" y="3913632"/>
            <a:ext cx="28346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222D3D"/>
                </a:solidFill>
              </a:defRPr>
            </a:pPr>
            <a:r>
              <a:t>Processor timeout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703320" y="3849624"/>
            <a:ext cx="100584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749039" y="3913632"/>
            <a:ext cx="9144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222D3D"/>
                </a:solidFill>
              </a:defRPr>
            </a:pPr>
            <a:r>
              <a:t>13,700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77240" y="4197096"/>
            <a:ext cx="292608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2960" y="4261104"/>
            <a:ext cx="28346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222D3D"/>
                </a:solidFill>
              </a:defRPr>
            </a:pPr>
            <a:r>
              <a:t>ACH verification failed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703320" y="4197096"/>
            <a:ext cx="100584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749039" y="4261104"/>
            <a:ext cx="9144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222D3D"/>
                </a:solidFill>
              </a:defRPr>
            </a:pPr>
            <a:r>
              <a:t>6,997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77240" y="4544568"/>
            <a:ext cx="292608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22960" y="4608576"/>
            <a:ext cx="28346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222D3D"/>
                </a:solidFill>
              </a:defRPr>
            </a:pPr>
            <a:r>
              <a:t>Wallet authorization failed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703320" y="4544568"/>
            <a:ext cx="100584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749039" y="4608576"/>
            <a:ext cx="9144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222D3D"/>
                </a:solidFill>
              </a:defRPr>
            </a:pPr>
            <a:r>
              <a:t>6,986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77240" y="4892040"/>
            <a:ext cx="292608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22960" y="4956048"/>
            <a:ext cx="28346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222D3D"/>
                </a:solidFill>
              </a:defRPr>
            </a:pPr>
            <a:r>
              <a:t>Amount limit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703320" y="4892040"/>
            <a:ext cx="100584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749039" y="4956048"/>
            <a:ext cx="9144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222D3D"/>
                </a:solidFill>
              </a:defRPr>
            </a:pPr>
            <a:r>
              <a:t>1,250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486400" y="2971800"/>
            <a:ext cx="56692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Char char="•"/>
              <a:spcAft>
                <a:spcPts val="800"/>
              </a:spcAft>
              <a:defRPr sz="1400">
                <a:solidFill>
                  <a:srgbClr val="222D3D"/>
                </a:solidFill>
              </a:defRPr>
            </a:pPr>
            <a:r>
              <a:t>Drill-down tables expose the latest failed transactions and highest latency transactions.</a:t>
            </a:r>
          </a:p>
          <a:p>
            <a:pPr>
              <a:buChar char="•"/>
              <a:spcAft>
                <a:spcPts val="800"/>
              </a:spcAft>
              <a:defRPr sz="1400">
                <a:solidFill>
                  <a:srgbClr val="222D3D"/>
                </a:solidFill>
              </a:defRPr>
            </a:pPr>
            <a:r>
              <a:t>Operations teams can isolate issues by country, payment method, merchant and reason.</a:t>
            </a:r>
          </a:p>
          <a:p>
            <a:pPr>
              <a:buChar char="•"/>
              <a:spcAft>
                <a:spcPts val="800"/>
              </a:spcAft>
              <a:defRPr sz="1400">
                <a:solidFill>
                  <a:srgbClr val="222D3D"/>
                </a:solidFill>
              </a:defRPr>
            </a:pPr>
            <a:r>
              <a:t>Useful for incident response and payment processor troubleshooting.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77240" y="5897880"/>
            <a:ext cx="73152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u="sng">
                <a:solidFill>
                  <a:srgbClr val="3673C8"/>
                </a:solidFill>
                <a:hlinkClick r:id="rId2"/>
              </a:rPr>
              <a:t>Open Operational Dashboard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3673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80467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42440"/>
                </a:solidFill>
              </a:defRPr>
            </a:pPr>
            <a:r>
              <a:t>Anomaly Detection Dashboard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2296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667487"/>
                </a:solidFill>
              </a:defRPr>
            </a:pPr>
            <a:r>
              <a:t>Rule-based anomaly detection without Machine Learning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67487"/>
                </a:solidFill>
              </a:defRPr>
            </a:pPr>
            <a:r>
              <a:t>Elastic Payments Analytics 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0" y="6446520"/>
            <a:ext cx="2377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667487"/>
                </a:solidFill>
              </a:defRPr>
            </a:pPr>
            <a:r>
              <a:t>Jun 09,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234440"/>
            <a:ext cx="2560320" cy="1005840"/>
          </a:xfrm>
          <a:prstGeom prst="round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234440"/>
            <a:ext cx="73152" cy="1005840"/>
          </a:xfrm>
          <a:prstGeom prst="rect">
            <a:avLst/>
          </a:prstGeom>
          <a:solidFill>
            <a:srgbClr val="EF8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7" y="1371600"/>
            <a:ext cx="224027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667487"/>
                </a:solidFill>
              </a:defRPr>
            </a:pPr>
            <a:r>
              <a:t>High Amount Txns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7" y="1673352"/>
            <a:ext cx="2240279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42440"/>
                </a:solidFill>
              </a:defRPr>
            </a:pPr>
            <a:r>
              <a:t>5,259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0439" y="1234440"/>
            <a:ext cx="2560320" cy="1005840"/>
          </a:xfrm>
          <a:prstGeom prst="round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520439" y="1234440"/>
            <a:ext cx="73152" cy="1005840"/>
          </a:xfrm>
          <a:prstGeom prst="rect">
            <a:avLst/>
          </a:prstGeom>
          <a:solidFill>
            <a:srgbClr val="7058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21607" y="1371600"/>
            <a:ext cx="224027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667487"/>
                </a:solidFill>
              </a:defRPr>
            </a:pPr>
            <a:r>
              <a:t>Off-hours Txns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21607" y="1673352"/>
            <a:ext cx="2240279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42440"/>
                </a:solidFill>
              </a:defRPr>
            </a:pPr>
            <a:r>
              <a:t>273,850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0" y="1234440"/>
            <a:ext cx="2560320" cy="1005840"/>
          </a:xfrm>
          <a:prstGeom prst="round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0" y="1234440"/>
            <a:ext cx="73152" cy="1005840"/>
          </a:xfrm>
          <a:prstGeom prst="rect">
            <a:avLst/>
          </a:prstGeom>
          <a:solidFill>
            <a:srgbClr val="D248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1968" y="1371600"/>
            <a:ext cx="224027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667487"/>
                </a:solidFill>
              </a:defRPr>
            </a:pPr>
            <a:r>
              <a:t>High Decline Countries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01968" y="1673352"/>
            <a:ext cx="2240279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42440"/>
                </a:solidFill>
              </a:defRPr>
            </a:pPr>
            <a:r>
              <a:t>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281159" y="1234440"/>
            <a:ext cx="2560320" cy="1005840"/>
          </a:xfrm>
          <a:prstGeom prst="round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281159" y="1234440"/>
            <a:ext cx="73152" cy="1005840"/>
          </a:xfrm>
          <a:prstGeom prst="rect">
            <a:avLst/>
          </a:prstGeom>
          <a:solidFill>
            <a:srgbClr val="0095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82328" y="1371600"/>
            <a:ext cx="224027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667487"/>
                </a:solidFill>
              </a:defRPr>
            </a:pPr>
            <a:r>
              <a:t>Merchant Spikes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82328" y="1673352"/>
            <a:ext cx="2240279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42440"/>
                </a:solidFill>
              </a:defRPr>
            </a:pPr>
            <a:r>
              <a:t>Detected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2834640"/>
            <a:ext cx="521208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Char char="•"/>
              <a:spcAft>
                <a:spcPts val="800"/>
              </a:spcAft>
              <a:defRPr sz="1400">
                <a:solidFill>
                  <a:srgbClr val="222D3D"/>
                </a:solidFill>
              </a:defRPr>
            </a:pPr>
            <a:r>
              <a:t>Flags transactions above an amount threshold.</a:t>
            </a:r>
          </a:p>
          <a:p>
            <a:pPr>
              <a:buChar char="•"/>
              <a:spcAft>
                <a:spcPts val="800"/>
              </a:spcAft>
              <a:defRPr sz="1400">
                <a:solidFill>
                  <a:srgbClr val="222D3D"/>
                </a:solidFill>
              </a:defRPr>
            </a:pPr>
            <a:r>
              <a:t>Finds merchants with unusual volume increases.</a:t>
            </a:r>
          </a:p>
          <a:p>
            <a:pPr>
              <a:buChar char="•"/>
              <a:spcAft>
                <a:spcPts val="800"/>
              </a:spcAft>
              <a:defRPr sz="1400">
                <a:solidFill>
                  <a:srgbClr val="222D3D"/>
                </a:solidFill>
              </a:defRPr>
            </a:pPr>
            <a:r>
              <a:t>Highlights countries with abnormal decline rates.</a:t>
            </a:r>
          </a:p>
          <a:p>
            <a:pPr>
              <a:buChar char="•"/>
              <a:spcAft>
                <a:spcPts val="800"/>
              </a:spcAft>
              <a:defRPr sz="1400">
                <a:solidFill>
                  <a:srgbClr val="222D3D"/>
                </a:solidFill>
              </a:defRPr>
            </a:pPr>
            <a:r>
              <a:t>Shows payments outside business hours.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0" y="2834640"/>
            <a:ext cx="4572000" cy="2103120"/>
          </a:xfrm>
          <a:prstGeom prst="round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400800" y="2834640"/>
            <a:ext cx="73152" cy="2103120"/>
          </a:xfrm>
          <a:prstGeom prst="rect">
            <a:avLst/>
          </a:prstGeom>
          <a:solidFill>
            <a:srgbClr val="EF8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01968" y="2971800"/>
            <a:ext cx="4251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667487"/>
                </a:solidFill>
              </a:defRPr>
            </a:pPr>
            <a:r>
              <a:t>Demo thresholds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01968" y="3291840"/>
            <a:ext cx="4251960" cy="141731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300"/>
              </a:spcAft>
              <a:defRPr sz="950">
                <a:solidFill>
                  <a:srgbClr val="222D3D"/>
                </a:solidFill>
              </a:defRPr>
            </a:pPr>
            <a:r>
              <a:t>High amount: amount &gt;= 250</a:t>
            </a:r>
          </a:p>
          <a:p>
            <a:pPr>
              <a:spcAft>
                <a:spcPts val="300"/>
              </a:spcAft>
              <a:defRPr sz="950">
                <a:solidFill>
                  <a:srgbClr val="222D3D"/>
                </a:solidFill>
              </a:defRPr>
            </a:pPr>
            <a:r>
              <a:t>Off-hours: before 06:00 or after 22:00 UTC</a:t>
            </a:r>
          </a:p>
          <a:p>
            <a:pPr>
              <a:spcAft>
                <a:spcPts val="300"/>
              </a:spcAft>
              <a:defRPr sz="950">
                <a:solidFill>
                  <a:srgbClr val="222D3D"/>
                </a:solidFill>
              </a:defRPr>
            </a:pPr>
            <a:r>
              <a:t>Country decline threshold: &gt;= 5.2%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5897880"/>
            <a:ext cx="73152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u="sng">
                <a:solidFill>
                  <a:srgbClr val="3673C8"/>
                </a:solidFill>
                <a:hlinkClick r:id="rId2"/>
              </a:rPr>
              <a:t>Open Anomaly Detection Dashboard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3673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80467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42440"/>
                </a:solidFill>
              </a:defRPr>
            </a:pPr>
            <a:r>
              <a:t>Payments World 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2296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667487"/>
                </a:solidFill>
              </a:defRPr>
            </a:pPr>
            <a:r>
              <a:t>Geographic distribution of payment count and total amount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67487"/>
                </a:solidFill>
              </a:defRPr>
            </a:pPr>
            <a:r>
              <a:t>Elastic Payments Analytics 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0" y="6446520"/>
            <a:ext cx="2377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667487"/>
                </a:solidFill>
              </a:defRPr>
            </a:pPr>
            <a:r>
              <a:t>Jun 09,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143000"/>
            <a:ext cx="507492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143000"/>
            <a:ext cx="73152" cy="2011680"/>
          </a:xfrm>
          <a:prstGeom prst="rect">
            <a:avLst/>
          </a:prstGeom>
          <a:solidFill>
            <a:srgbClr val="3673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280160"/>
            <a:ext cx="47548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667487"/>
                </a:solidFill>
              </a:defRPr>
            </a:pPr>
            <a:r>
              <a:t>Map 1: Number of payments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600200"/>
            <a:ext cx="4754880" cy="1325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300"/>
              </a:spcAft>
              <a:defRPr sz="950">
                <a:solidFill>
                  <a:srgbClr val="222D3D"/>
                </a:solidFill>
              </a:defRPr>
            </a:pPr>
            <a:r>
              <a:t>Country-level region map</a:t>
            </a:r>
          </a:p>
          <a:p>
            <a:pPr>
              <a:spcAft>
                <a:spcPts val="300"/>
              </a:spcAft>
              <a:defRPr sz="950">
                <a:solidFill>
                  <a:srgbClr val="222D3D"/>
                </a:solidFill>
              </a:defRPr>
            </a:pPr>
            <a:r>
              <a:t>Metric: payments = COUNT(*)</a:t>
            </a:r>
          </a:p>
          <a:p>
            <a:pPr>
              <a:spcAft>
                <a:spcPts val="300"/>
              </a:spcAft>
              <a:defRPr sz="950">
                <a:solidFill>
                  <a:srgbClr val="222D3D"/>
                </a:solidFill>
              </a:defRPr>
            </a:pPr>
            <a:r>
              <a:t>Uses ISO country codes internally for map matching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55080" y="1143000"/>
            <a:ext cx="5074920" cy="2011680"/>
          </a:xfrm>
          <a:prstGeom prst="round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143000"/>
            <a:ext cx="73152" cy="2011680"/>
          </a:xfrm>
          <a:prstGeom prst="rect">
            <a:avLst/>
          </a:prstGeom>
          <a:solidFill>
            <a:srgbClr val="44A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6248" y="1280160"/>
            <a:ext cx="47548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667487"/>
                </a:solidFill>
              </a:defRPr>
            </a:pPr>
            <a:r>
              <a:t>Map 2: Total payment amount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6248" y="1600200"/>
            <a:ext cx="4754880" cy="1325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300"/>
              </a:spcAft>
              <a:defRPr sz="950">
                <a:solidFill>
                  <a:srgbClr val="222D3D"/>
                </a:solidFill>
              </a:defRPr>
            </a:pPr>
            <a:r>
              <a:t>Country-level region map</a:t>
            </a:r>
          </a:p>
          <a:p>
            <a:pPr>
              <a:spcAft>
                <a:spcPts val="300"/>
              </a:spcAft>
              <a:defRPr sz="950">
                <a:solidFill>
                  <a:srgbClr val="222D3D"/>
                </a:solidFill>
              </a:defRPr>
            </a:pPr>
            <a:r>
              <a:t>Metric: total_amount = SUM(amount)</a:t>
            </a:r>
          </a:p>
          <a:p>
            <a:pPr>
              <a:spcAft>
                <a:spcPts val="300"/>
              </a:spcAft>
              <a:defRPr sz="950">
                <a:solidFill>
                  <a:srgbClr val="222D3D"/>
                </a:solidFill>
              </a:defRPr>
            </a:pPr>
            <a:r>
              <a:t>Supporting table shows full country names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630168"/>
            <a:ext cx="46634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200">
                <a:solidFill>
                  <a:srgbClr val="142440"/>
                </a:solidFill>
              </a:defRPr>
            </a:pPr>
            <a:r>
              <a:t>Top countries displayed with full names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4400" y="3977639"/>
            <a:ext cx="2011680" cy="347472"/>
          </a:xfrm>
          <a:prstGeom prst="rect">
            <a:avLst/>
          </a:prstGeom>
          <a:solidFill>
            <a:srgbClr val="14244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4041648"/>
            <a:ext cx="19202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 b="1">
                <a:solidFill>
                  <a:srgbClr val="FFFFFF"/>
                </a:solidFill>
              </a:defRPr>
            </a:pPr>
            <a:r>
              <a:t>Country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926080" y="3977639"/>
            <a:ext cx="1188720" cy="347472"/>
          </a:xfrm>
          <a:prstGeom prst="rect">
            <a:avLst/>
          </a:prstGeom>
          <a:solidFill>
            <a:srgbClr val="14244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71800" y="4041648"/>
            <a:ext cx="10972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 b="1">
                <a:solidFill>
                  <a:srgbClr val="FFFFFF"/>
                </a:solidFill>
              </a:defRPr>
            </a:pPr>
            <a:r>
              <a:t>Payments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0" y="3977639"/>
            <a:ext cx="1463040" cy="347472"/>
          </a:xfrm>
          <a:prstGeom prst="rect">
            <a:avLst/>
          </a:prstGeom>
          <a:solidFill>
            <a:srgbClr val="14244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60520" y="4041648"/>
            <a:ext cx="1371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 b="1">
                <a:solidFill>
                  <a:srgbClr val="FFFFFF"/>
                </a:solidFill>
              </a:defRPr>
            </a:pPr>
            <a:r>
              <a:t>Amount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4400" y="4325112"/>
            <a:ext cx="201168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4389120"/>
            <a:ext cx="19202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222D3D"/>
                </a:solidFill>
              </a:defRPr>
            </a:pPr>
            <a:r>
              <a:t>Singapore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926080" y="4325112"/>
            <a:ext cx="118872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971800" y="4389120"/>
            <a:ext cx="10972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222D3D"/>
                </a:solidFill>
              </a:defRPr>
            </a:pPr>
            <a:r>
              <a:t>100,647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114800" y="4325112"/>
            <a:ext cx="146304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160520" y="4389120"/>
            <a:ext cx="1371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222D3D"/>
                </a:solidFill>
              </a:defRPr>
            </a:pPr>
            <a:r>
              <a:t>$4,098,473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14400" y="4672583"/>
            <a:ext cx="201168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0120" y="4736592"/>
            <a:ext cx="19202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222D3D"/>
                </a:solidFill>
              </a:defRPr>
            </a:pPr>
            <a:r>
              <a:t>Brazil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926080" y="4672583"/>
            <a:ext cx="118872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971800" y="4736592"/>
            <a:ext cx="10972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222D3D"/>
                </a:solidFill>
              </a:defRPr>
            </a:pPr>
            <a:r>
              <a:t>100,318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0" y="4672583"/>
            <a:ext cx="146304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160520" y="4736592"/>
            <a:ext cx="1371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222D3D"/>
                </a:solidFill>
              </a:defRPr>
            </a:pPr>
            <a:r>
              <a:t>$4,096,100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14400" y="5020056"/>
            <a:ext cx="201168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60120" y="5084064"/>
            <a:ext cx="19202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222D3D"/>
                </a:solidFill>
              </a:defRPr>
            </a:pPr>
            <a:r>
              <a:t>United Kingdom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926080" y="5020056"/>
            <a:ext cx="118872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971800" y="5084064"/>
            <a:ext cx="10972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222D3D"/>
                </a:solidFill>
              </a:defRPr>
            </a:pPr>
            <a:r>
              <a:t>100,297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114800" y="5020056"/>
            <a:ext cx="146304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160520" y="5084064"/>
            <a:ext cx="1371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222D3D"/>
                </a:solidFill>
              </a:defRPr>
            </a:pPr>
            <a:r>
              <a:t>$4,101,933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14400" y="5367527"/>
            <a:ext cx="201168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60120" y="5431536"/>
            <a:ext cx="19202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222D3D"/>
                </a:solidFill>
              </a:defRPr>
            </a:pPr>
            <a:r>
              <a:t>India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926080" y="5367527"/>
            <a:ext cx="118872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971800" y="5431536"/>
            <a:ext cx="10972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222D3D"/>
                </a:solidFill>
              </a:defRPr>
            </a:pPr>
            <a:r>
              <a:t>100,058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114800" y="5367527"/>
            <a:ext cx="146304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160520" y="5431536"/>
            <a:ext cx="1371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222D3D"/>
                </a:solidFill>
              </a:defRPr>
            </a:pPr>
            <a:r>
              <a:t>$4,104,417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14400" y="5715000"/>
            <a:ext cx="201168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60120" y="5779008"/>
            <a:ext cx="19202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222D3D"/>
                </a:solidFill>
              </a:defRPr>
            </a:pPr>
            <a:r>
              <a:t>Canada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926080" y="5715000"/>
            <a:ext cx="118872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971800" y="5779008"/>
            <a:ext cx="10972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222D3D"/>
                </a:solidFill>
              </a:defRPr>
            </a:pPr>
            <a:r>
              <a:t>99,976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114800" y="5715000"/>
            <a:ext cx="1463040" cy="347472"/>
          </a:xfrm>
          <a:prstGeom prst="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160520" y="5779008"/>
            <a:ext cx="1371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50">
                <a:solidFill>
                  <a:srgbClr val="222D3D"/>
                </a:solidFill>
              </a:defRPr>
            </a:pPr>
            <a:r>
              <a:t>$4,094,552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4400" y="5989320"/>
            <a:ext cx="73152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u="sng">
                <a:solidFill>
                  <a:srgbClr val="3673C8"/>
                </a:solidFill>
                <a:hlinkClick r:id="rId2"/>
              </a:rPr>
              <a:t>Open Payments World Map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3673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80467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42440"/>
                </a:solidFill>
              </a:defRPr>
            </a:pPr>
            <a:r>
              <a:t>Elasticsearch capabilities demonstrated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2296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667487"/>
                </a:solidFill>
              </a:defRPr>
            </a:pPr>
            <a:r>
              <a:t>Search, analytics, runtime fields, schema management and lifecycle awareness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67487"/>
                </a:solidFill>
              </a:defRPr>
            </a:pPr>
            <a:r>
              <a:t>Elastic Payments Analytics 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0" y="6446520"/>
            <a:ext cx="2377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667487"/>
                </a:solidFill>
              </a:defRPr>
            </a:pPr>
            <a:r>
              <a:t>Jun 09,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143000"/>
            <a:ext cx="5120640" cy="1005840"/>
          </a:xfrm>
          <a:prstGeom prst="round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1143000"/>
            <a:ext cx="73152" cy="1005840"/>
          </a:xfrm>
          <a:prstGeom prst="rect">
            <a:avLst/>
          </a:prstGeom>
          <a:solidFill>
            <a:srgbClr val="3673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6968" y="1280160"/>
            <a:ext cx="4800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667487"/>
                </a:solidFill>
              </a:defRPr>
            </a:pPr>
            <a:r>
              <a:t>Aggregations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" y="1600200"/>
            <a:ext cx="480060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300"/>
              </a:spcAft>
              <a:defRPr sz="950">
                <a:solidFill>
                  <a:srgbClr val="222D3D"/>
                </a:solidFill>
              </a:defRPr>
            </a:pPr>
            <a:r>
              <a:t>Revenue by merchant, approval rate by country, avg/P95 processing time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55080" y="1143000"/>
            <a:ext cx="5120640" cy="1005840"/>
          </a:xfrm>
          <a:prstGeom prst="round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143000"/>
            <a:ext cx="73152" cy="1005840"/>
          </a:xfrm>
          <a:prstGeom prst="rect">
            <a:avLst/>
          </a:prstGeom>
          <a:solidFill>
            <a:srgbClr val="0095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6248" y="1280160"/>
            <a:ext cx="4800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667487"/>
                </a:solidFill>
              </a:defRPr>
            </a:pPr>
            <a:r>
              <a:t>Full-text search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6248" y="1600200"/>
            <a:ext cx="480060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300"/>
              </a:spcAft>
              <a:defRPr sz="950">
                <a:solidFill>
                  <a:srgbClr val="222D3D"/>
                </a:solidFill>
              </a:defRPr>
            </a:pPr>
            <a:r>
              <a:t>Transaction ID, merchant/category and error_message timeout searches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2514600"/>
            <a:ext cx="5120640" cy="1005840"/>
          </a:xfrm>
          <a:prstGeom prst="round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85800" y="2514600"/>
            <a:ext cx="73152" cy="1005840"/>
          </a:xfrm>
          <a:prstGeom prst="rect">
            <a:avLst/>
          </a:prstGeom>
          <a:solidFill>
            <a:srgbClr val="7058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86968" y="2651760"/>
            <a:ext cx="4800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667487"/>
                </a:solidFill>
              </a:defRPr>
            </a:pPr>
            <a:r>
              <a:t>Runtime fields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6968" y="2971800"/>
            <a:ext cx="480060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300"/>
              </a:spcAft>
              <a:defRPr sz="950">
                <a:solidFill>
                  <a:srgbClr val="222D3D"/>
                </a:solidFill>
              </a:defRPr>
            </a:pPr>
            <a:r>
              <a:t>Live calculations for approval status, revenue, amount bands, country names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55080" y="2514600"/>
            <a:ext cx="5120640" cy="1005840"/>
          </a:xfrm>
          <a:prstGeom prst="round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355080" y="2514600"/>
            <a:ext cx="73152" cy="1005840"/>
          </a:xfrm>
          <a:prstGeom prst="rect">
            <a:avLst/>
          </a:prstGeom>
          <a:solidFill>
            <a:srgbClr val="EF8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56248" y="2651760"/>
            <a:ext cx="4800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667487"/>
                </a:solidFill>
              </a:defRPr>
            </a:pPr>
            <a:r>
              <a:t>Index templates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56248" y="2971800"/>
            <a:ext cx="480060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300"/>
              </a:spcAft>
              <a:defRPr sz="950">
                <a:solidFill>
                  <a:srgbClr val="222D3D"/>
                </a:solidFill>
              </a:defRPr>
            </a:pPr>
            <a:r>
              <a:t>Reusable schema for future synthetic-transactions-* indices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85800" y="3886200"/>
            <a:ext cx="5120640" cy="1005840"/>
          </a:xfrm>
          <a:prstGeom prst="round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85800" y="3886200"/>
            <a:ext cx="73152" cy="1005840"/>
          </a:xfrm>
          <a:prstGeom prst="rect">
            <a:avLst/>
          </a:prstGeom>
          <a:solidFill>
            <a:srgbClr val="44A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86968" y="4023360"/>
            <a:ext cx="4800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667487"/>
                </a:solidFill>
              </a:defRPr>
            </a:pPr>
            <a:r>
              <a:t>Lifecycle / ILM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6968" y="4343400"/>
            <a:ext cx="480060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300"/>
              </a:spcAft>
              <a:defRPr sz="950">
                <a:solidFill>
                  <a:srgbClr val="222D3D"/>
                </a:solidFill>
              </a:defRPr>
            </a:pPr>
            <a:r>
              <a:t>Serverless note plus hot/warm/delete ILM concept for Stack deployments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5897880"/>
            <a:ext cx="73152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u="sng">
                <a:solidFill>
                  <a:srgbClr val="3673C8"/>
                </a:solidFill>
                <a:hlinkClick r:id="rId2"/>
              </a:rPr>
              <a:t>Open Elasticsearch Capabilities Demo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3673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80467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42440"/>
                </a:solidFill>
              </a:defRPr>
            </a:pPr>
            <a:r>
              <a:t>Key insights to communicate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2296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667487"/>
                </a:solidFill>
              </a:defRPr>
            </a:pPr>
            <a:r>
              <a:t>Business and technical outcomes from the dashboards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67487"/>
                </a:solidFill>
              </a:defRPr>
            </a:pPr>
            <a:r>
              <a:t>Elastic Payments Analytics 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0" y="6446520"/>
            <a:ext cx="2377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667487"/>
                </a:solidFill>
              </a:defRPr>
            </a:pPr>
            <a:r>
              <a:t>Jun 09,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234440"/>
            <a:ext cx="53035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Char char="•"/>
              <a:spcAft>
                <a:spcPts val="800"/>
              </a:spcAft>
              <a:defRPr sz="1400">
                <a:solidFill>
                  <a:srgbClr val="222D3D"/>
                </a:solidFill>
              </a:defRPr>
            </a:pPr>
            <a:r>
              <a:t>Payment approval rate is 93.02%, showing a healthy baseline.</a:t>
            </a:r>
          </a:p>
          <a:p>
            <a:pPr>
              <a:buChar char="•"/>
              <a:spcAft>
                <a:spcPts val="800"/>
              </a:spcAft>
              <a:defRPr sz="1400">
                <a:solidFill>
                  <a:srgbClr val="222D3D"/>
                </a:solidFill>
              </a:defRPr>
            </a:pPr>
            <a:r>
              <a:t>Total synthetic revenue is approximately $35,128,691 across 1,000,000 transactions.</a:t>
            </a:r>
          </a:p>
          <a:p>
            <a:pPr>
              <a:buChar char="•"/>
              <a:spcAft>
                <a:spcPts val="800"/>
              </a:spcAft>
              <a:defRPr sz="1400">
                <a:solidFill>
                  <a:srgbClr val="222D3D"/>
                </a:solidFill>
              </a:defRPr>
            </a:pPr>
            <a:r>
              <a:t>Operational risk: 51,887 failed transactions and 201,523 high-latency transactions.</a:t>
            </a:r>
          </a:p>
          <a:p>
            <a:pPr>
              <a:buChar char="•"/>
              <a:spcAft>
                <a:spcPts val="800"/>
              </a:spcAft>
              <a:defRPr sz="1400">
                <a:solidFill>
                  <a:srgbClr val="222D3D"/>
                </a:solidFill>
              </a:defRPr>
            </a:pPr>
            <a:r>
              <a:t>Country and merchant breakdowns make it easy to explain where performance changes originate.</a:t>
            </a:r>
          </a:p>
          <a:p>
            <a:pPr>
              <a:buChar char="•"/>
              <a:spcAft>
                <a:spcPts val="800"/>
              </a:spcAft>
              <a:defRPr sz="1400">
                <a:solidFill>
                  <a:srgbClr val="222D3D"/>
                </a:solidFill>
              </a:defRPr>
            </a:pPr>
            <a:r>
              <a:t>Runtime fields and ES|QL enable new calculations without reindexing the data.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37960" y="1325880"/>
            <a:ext cx="4480560" cy="3108960"/>
          </a:xfrm>
          <a:prstGeom prst="round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37960" y="1325880"/>
            <a:ext cx="73152" cy="3108960"/>
          </a:xfrm>
          <a:prstGeom prst="rect">
            <a:avLst/>
          </a:prstGeom>
          <a:solidFill>
            <a:srgbClr val="3673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39128" y="1463039"/>
            <a:ext cx="4160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667487"/>
                </a:solidFill>
              </a:defRPr>
            </a:pPr>
            <a:r>
              <a:t>Presentation narrative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39128" y="1783080"/>
            <a:ext cx="4160520" cy="24231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300"/>
              </a:spcAft>
              <a:defRPr sz="950">
                <a:solidFill>
                  <a:srgbClr val="222D3D"/>
                </a:solidFill>
              </a:defRPr>
            </a:pPr>
            <a:r>
              <a:t>1. Start with executive KPIs</a:t>
            </a:r>
          </a:p>
          <a:p>
            <a:pPr>
              <a:spcAft>
                <a:spcPts val="300"/>
              </a:spcAft>
              <a:defRPr sz="950">
                <a:solidFill>
                  <a:srgbClr val="222D3D"/>
                </a:solidFill>
              </a:defRPr>
            </a:pPr>
            <a:r>
              <a:t>2. Show operational drill-down</a:t>
            </a:r>
          </a:p>
          <a:p>
            <a:pPr>
              <a:spcAft>
                <a:spcPts val="300"/>
              </a:spcAft>
              <a:defRPr sz="950">
                <a:solidFill>
                  <a:srgbClr val="222D3D"/>
                </a:solidFill>
              </a:defRPr>
            </a:pPr>
            <a:r>
              <a:t>3. Demonstrate anomaly monitoring</a:t>
            </a:r>
          </a:p>
          <a:p>
            <a:pPr>
              <a:spcAft>
                <a:spcPts val="300"/>
              </a:spcAft>
              <a:defRPr sz="950">
                <a:solidFill>
                  <a:srgbClr val="222D3D"/>
                </a:solidFill>
              </a:defRPr>
            </a:pPr>
            <a:r>
              <a:t>4. Close with Elasticsearch platform capabilities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3673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80467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42440"/>
                </a:solidFill>
              </a:defRPr>
            </a:pPr>
            <a:r>
              <a:t>Recommended 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2296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667487"/>
                </a:solidFill>
              </a:defRPr>
            </a:pPr>
            <a:r>
              <a:t>How to take the demo toward production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67487"/>
                </a:solidFill>
              </a:defRPr>
            </a:pPr>
            <a:r>
              <a:t>Elastic Payments Analytics 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0" y="6446520"/>
            <a:ext cx="2377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667487"/>
                </a:solidFill>
              </a:defRPr>
            </a:pPr>
            <a:r>
              <a:t>Jun 09,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188720"/>
            <a:ext cx="52120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Char char="•"/>
              <a:spcAft>
                <a:spcPts val="800"/>
              </a:spcAft>
              <a:defRPr sz="1500">
                <a:solidFill>
                  <a:srgbClr val="222D3D"/>
                </a:solidFill>
              </a:defRPr>
            </a:pPr>
            <a:r>
              <a:t>Connect real payment streams or batch exports.</a:t>
            </a:r>
          </a:p>
          <a:p>
            <a:pPr>
              <a:buChar char="•"/>
              <a:spcAft>
                <a:spcPts val="800"/>
              </a:spcAft>
              <a:defRPr sz="1500">
                <a:solidFill>
                  <a:srgbClr val="222D3D"/>
                </a:solidFill>
              </a:defRPr>
            </a:pPr>
            <a:r>
              <a:t>Add alerts for high decline rate, high latency and off-hours spikes.</a:t>
            </a:r>
          </a:p>
          <a:p>
            <a:pPr>
              <a:buChar char="•"/>
              <a:spcAft>
                <a:spcPts val="800"/>
              </a:spcAft>
              <a:defRPr sz="1500">
                <a:solidFill>
                  <a:srgbClr val="222D3D"/>
                </a:solidFill>
              </a:defRPr>
            </a:pPr>
            <a:r>
              <a:t>Introduce ML anomaly detection after baseline behavior is established.</a:t>
            </a:r>
          </a:p>
          <a:p>
            <a:pPr>
              <a:buChar char="•"/>
              <a:spcAft>
                <a:spcPts val="800"/>
              </a:spcAft>
              <a:defRPr sz="1500">
                <a:solidFill>
                  <a:srgbClr val="222D3D"/>
                </a:solidFill>
              </a:defRPr>
            </a:pPr>
            <a:r>
              <a:t>Define production index lifecycle policy where ILM is available.</a:t>
            </a:r>
          </a:p>
          <a:p>
            <a:pPr>
              <a:buChar char="•"/>
              <a:spcAft>
                <a:spcPts val="800"/>
              </a:spcAft>
              <a:defRPr sz="1500">
                <a:solidFill>
                  <a:srgbClr val="222D3D"/>
                </a:solidFill>
              </a:defRPr>
            </a:pPr>
            <a:r>
              <a:t>Add role-based access and scheduled PDF/PNG dashboard reports.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1325880"/>
            <a:ext cx="4572000" cy="1828800"/>
          </a:xfrm>
          <a:prstGeom prst="round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0" y="1325880"/>
            <a:ext cx="73152" cy="1828800"/>
          </a:xfrm>
          <a:prstGeom prst="rect">
            <a:avLst/>
          </a:prstGeom>
          <a:solidFill>
            <a:srgbClr val="44A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01968" y="1463039"/>
            <a:ext cx="4251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667487"/>
                </a:solidFill>
              </a:defRPr>
            </a:pPr>
            <a:r>
              <a:t>Suggested closing statement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01968" y="1783080"/>
            <a:ext cx="4251960" cy="1143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300"/>
              </a:spcAft>
              <a:defRPr sz="950">
                <a:solidFill>
                  <a:srgbClr val="222D3D"/>
                </a:solidFill>
              </a:defRPr>
            </a:pPr>
            <a:r>
              <a:t>Elastic provides one platform for payment search, analytics, operations, anomaly detection and geographic insight.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3657600"/>
            <a:ext cx="4572000" cy="1463040"/>
          </a:xfrm>
          <a:prstGeom prst="round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0" y="3657600"/>
            <a:ext cx="73152" cy="1463040"/>
          </a:xfrm>
          <a:prstGeom prst="rect">
            <a:avLst/>
          </a:prstGeom>
          <a:solidFill>
            <a:srgbClr val="7058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01968" y="3794760"/>
            <a:ext cx="4251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667487"/>
                </a:solidFill>
              </a:defRPr>
            </a:pPr>
            <a:r>
              <a:t>Deliverable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01968" y="4114800"/>
            <a:ext cx="4251960" cy="7772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300"/>
              </a:spcAft>
              <a:defRPr sz="950">
                <a:solidFill>
                  <a:srgbClr val="222D3D"/>
                </a:solidFill>
              </a:defRPr>
            </a:pPr>
            <a:r>
              <a:t>This deck summarizes five live Kibana dashboards and the Elasticsearch capabilities behind them.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3673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80467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42440"/>
                </a:solidFill>
              </a:defRPr>
            </a:pPr>
            <a:r>
              <a:t>Appendix: live dashboard links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2296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667487"/>
                </a:solidFill>
              </a:defRPr>
            </a:pPr>
            <a:r>
              <a:t>Use these links during the demo or Q&amp;A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67487"/>
                </a:solidFill>
              </a:defRPr>
            </a:pPr>
            <a:r>
              <a:t>Elastic Payments Analytics 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0" y="6446520"/>
            <a:ext cx="2377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667487"/>
                </a:solidFill>
              </a:defRPr>
            </a:pPr>
            <a:r>
              <a:t>Jun 09,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234440"/>
            <a:ext cx="10607040" cy="685800"/>
          </a:xfrm>
          <a:prstGeom prst="round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1234440"/>
            <a:ext cx="73152" cy="685800"/>
          </a:xfrm>
          <a:prstGeom prst="rect">
            <a:avLst/>
          </a:prstGeom>
          <a:solidFill>
            <a:srgbClr val="3673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1371600"/>
            <a:ext cx="10287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667487"/>
                </a:solidFill>
              </a:defRPr>
            </a:pPr>
            <a:r>
              <a:t>Executive Dashboard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8408" y="1691640"/>
            <a:ext cx="10287000" cy="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300"/>
              </a:spcAft>
              <a:defRPr sz="950">
                <a:solidFill>
                  <a:srgbClr val="222D3D"/>
                </a:solidFill>
              </a:defRPr>
            </a:pPr>
            <a:r>
              <a:t>https://payments-c225aa.kb.us-central1.gcp.elastic.cloud:443/app/dashboards#/view/4175393e-6f7a-4ff6-b800-0a6cc952fb08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1554480"/>
            <a:ext cx="73152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u="sng">
                <a:solidFill>
                  <a:srgbClr val="3673C8"/>
                </a:solidFill>
                <a:hlinkClick r:id="rId2"/>
              </a:rPr>
              <a:t>Open dashboard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2103120"/>
            <a:ext cx="10607040" cy="685800"/>
          </a:xfrm>
          <a:prstGeom prst="round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2103120"/>
            <a:ext cx="73152" cy="685800"/>
          </a:xfrm>
          <a:prstGeom prst="rect">
            <a:avLst/>
          </a:prstGeom>
          <a:solidFill>
            <a:srgbClr val="3673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78408" y="2240279"/>
            <a:ext cx="10287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667487"/>
                </a:solidFill>
              </a:defRPr>
            </a:pPr>
            <a:r>
              <a:t>Operational Dashboard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8" y="2560320"/>
            <a:ext cx="10287000" cy="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300"/>
              </a:spcAft>
              <a:defRPr sz="950">
                <a:solidFill>
                  <a:srgbClr val="222D3D"/>
                </a:solidFill>
              </a:defRPr>
            </a:pPr>
            <a:r>
              <a:t>https://payments-c225aa.kb.us-central1.gcp.elastic.cloud:443/app/dashboards#/view/f95d1796-ed29-40c4-af2c-a05a0f834039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2423160"/>
            <a:ext cx="73152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u="sng">
                <a:solidFill>
                  <a:srgbClr val="3673C8"/>
                </a:solidFill>
                <a:hlinkClick r:id="rId3"/>
              </a:rPr>
              <a:t>Open dashboard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2971800"/>
            <a:ext cx="10607040" cy="685800"/>
          </a:xfrm>
          <a:prstGeom prst="round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2971800"/>
            <a:ext cx="73152" cy="685800"/>
          </a:xfrm>
          <a:prstGeom prst="rect">
            <a:avLst/>
          </a:prstGeom>
          <a:solidFill>
            <a:srgbClr val="3673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78408" y="3108960"/>
            <a:ext cx="10287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667487"/>
                </a:solidFill>
              </a:defRPr>
            </a:pPr>
            <a:r>
              <a:t>Anomaly Detection Dashboard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8408" y="3429000"/>
            <a:ext cx="10287000" cy="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300"/>
              </a:spcAft>
              <a:defRPr sz="950">
                <a:solidFill>
                  <a:srgbClr val="222D3D"/>
                </a:solidFill>
              </a:defRPr>
            </a:pPr>
            <a:r>
              <a:t>https://payments-c225aa.kb.us-central1.gcp.elastic.cloud:443/app/dashboards#/view/3b55a52b-7342-469d-8ebc-317ec4450018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3291840"/>
            <a:ext cx="73152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u="sng">
                <a:solidFill>
                  <a:srgbClr val="3673C8"/>
                </a:solidFill>
                <a:hlinkClick r:id="rId4"/>
              </a:rPr>
              <a:t>Open dashboard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3840480"/>
            <a:ext cx="10607040" cy="685800"/>
          </a:xfrm>
          <a:prstGeom prst="round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77240" y="3840480"/>
            <a:ext cx="73152" cy="685800"/>
          </a:xfrm>
          <a:prstGeom prst="rect">
            <a:avLst/>
          </a:prstGeom>
          <a:solidFill>
            <a:srgbClr val="3673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78408" y="3977640"/>
            <a:ext cx="10287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667487"/>
                </a:solidFill>
              </a:defRPr>
            </a:pPr>
            <a:r>
              <a:t>Elasticsearch Capabilities Demo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8408" y="4297680"/>
            <a:ext cx="10287000" cy="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300"/>
              </a:spcAft>
              <a:defRPr sz="950">
                <a:solidFill>
                  <a:srgbClr val="222D3D"/>
                </a:solidFill>
              </a:defRPr>
            </a:pPr>
            <a:r>
              <a:t>https://payments-c225aa.kb.us-central1.gcp.elastic.cloud:443/app/dashboards#/view/d5e44534-8afb-438e-ae72-aa908ab2bb11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4160520"/>
            <a:ext cx="73152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u="sng">
                <a:solidFill>
                  <a:srgbClr val="3673C8"/>
                </a:solidFill>
                <a:hlinkClick r:id="rId5"/>
              </a:rPr>
              <a:t>Open dashboard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7240" y="4709160"/>
            <a:ext cx="10607040" cy="685800"/>
          </a:xfrm>
          <a:prstGeom prst="round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77240" y="4709160"/>
            <a:ext cx="73152" cy="685800"/>
          </a:xfrm>
          <a:prstGeom prst="rect">
            <a:avLst/>
          </a:prstGeom>
          <a:solidFill>
            <a:srgbClr val="3673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78408" y="4846320"/>
            <a:ext cx="10287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667487"/>
                </a:solidFill>
              </a:defRPr>
            </a:pPr>
            <a:r>
              <a:t>Payments World Map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8408" y="5166360"/>
            <a:ext cx="10287000" cy="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300"/>
              </a:spcAft>
              <a:defRPr sz="950">
                <a:solidFill>
                  <a:srgbClr val="222D3D"/>
                </a:solidFill>
              </a:defRPr>
            </a:pPr>
            <a:r>
              <a:t>https://payments-c225aa.kb.us-central1.gcp.elastic.cloud:443/app/dashboards#/view/9a0f1247-c2d0-475a-9d11-b5c21e950fa2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5840" y="5029200"/>
            <a:ext cx="73152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u="sng">
                <a:solidFill>
                  <a:srgbClr val="3673C8"/>
                </a:solidFill>
                <a:hlinkClick r:id="rId6"/>
              </a:rPr>
              <a:t>Open dashboard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77240" y="5577840"/>
            <a:ext cx="10607040" cy="685800"/>
          </a:xfrm>
          <a:prstGeom prst="round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77240" y="5577840"/>
            <a:ext cx="73152" cy="685800"/>
          </a:xfrm>
          <a:prstGeom prst="rect">
            <a:avLst/>
          </a:prstGeom>
          <a:solidFill>
            <a:srgbClr val="0095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78408" y="5715000"/>
            <a:ext cx="10287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667487"/>
                </a:solidFill>
              </a:defRPr>
            </a:pPr>
            <a:r>
              <a:t>Payments Observability Dashboard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8408" y="6035040"/>
            <a:ext cx="10287000" cy="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300"/>
              </a:spcAft>
              <a:defRPr sz="950">
                <a:solidFill>
                  <a:srgbClr val="222D3D"/>
                </a:solidFill>
              </a:defRPr>
            </a:pPr>
            <a:r>
              <a:t>https://payments-c225aa.kb.us-central1.gcp.elastic.cloud:443/app/dashboards#/view/250b10ed-6fa9-4032-bec9-8d7d1a3632f6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5840" y="5897880"/>
            <a:ext cx="73152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u="sng">
                <a:solidFill>
                  <a:srgbClr val="3673C8"/>
                </a:solidFill>
                <a:hlinkClick r:id="rId7"/>
              </a:rPr>
              <a:t>Open dashboard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3673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85039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42440"/>
                </a:solidFill>
              </a:defRPr>
            </a:pPr>
            <a:r>
              <a:t>Observability Dashboard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22960"/>
            <a:ext cx="9875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667487"/>
                </a:solidFill>
              </a:defRPr>
            </a:pPr>
            <a:r>
              <a:t>Service-health view built from the current payment transaction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457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67487"/>
                </a:solidFill>
              </a:defRPr>
            </a:pPr>
            <a:r>
              <a:t>Elastic Payments Analytics 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0" y="6446520"/>
            <a:ext cx="2377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>
                <a:solidFill>
                  <a:srgbClr val="667487"/>
                </a:solidFill>
              </a:defRPr>
            </a:pPr>
            <a:r>
              <a:t>Jun 09,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234440"/>
            <a:ext cx="1737360" cy="1005840"/>
          </a:xfrm>
          <a:prstGeom prst="round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234440"/>
            <a:ext cx="73152" cy="1005840"/>
          </a:xfrm>
          <a:prstGeom prst="rect">
            <a:avLst/>
          </a:prstGeom>
          <a:solidFill>
            <a:srgbClr val="44A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4088" y="1371600"/>
            <a:ext cx="141731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667487"/>
                </a:solidFill>
              </a:defRPr>
            </a:pPr>
            <a:r>
              <a:t>Availability SLI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" y="1673352"/>
            <a:ext cx="1417319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42440"/>
                </a:solidFill>
              </a:defRPr>
            </a:pPr>
            <a:r>
              <a:t>94.81%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423160" y="1234440"/>
            <a:ext cx="1737360" cy="1005840"/>
          </a:xfrm>
          <a:prstGeom prst="round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423160" y="1234440"/>
            <a:ext cx="73152" cy="1005840"/>
          </a:xfrm>
          <a:prstGeom prst="rect">
            <a:avLst/>
          </a:prstGeom>
          <a:solidFill>
            <a:srgbClr val="EF8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24328" y="1371600"/>
            <a:ext cx="141731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667487"/>
                </a:solidFill>
              </a:defRPr>
            </a:pPr>
            <a:r>
              <a:t>Failure Rate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24328" y="1673352"/>
            <a:ext cx="1417319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42440"/>
                </a:solidFill>
              </a:defRPr>
            </a:pPr>
            <a:r>
              <a:t>5.19%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43400" y="1234440"/>
            <a:ext cx="1737360" cy="1005840"/>
          </a:xfrm>
          <a:prstGeom prst="round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43400" y="1234440"/>
            <a:ext cx="73152" cy="1005840"/>
          </a:xfrm>
          <a:prstGeom prst="rect">
            <a:avLst/>
          </a:prstGeom>
          <a:solidFill>
            <a:srgbClr val="3673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44568" y="1371600"/>
            <a:ext cx="141731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667487"/>
                </a:solidFill>
              </a:defRPr>
            </a:pPr>
            <a:r>
              <a:t>P95 Latency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44568" y="1673352"/>
            <a:ext cx="1417319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42440"/>
                </a:solidFill>
              </a:defRPr>
            </a:pPr>
            <a:r>
              <a:t>2,376 ms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63640" y="1234440"/>
            <a:ext cx="1737360" cy="1005840"/>
          </a:xfrm>
          <a:prstGeom prst="round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63640" y="1234440"/>
            <a:ext cx="73152" cy="1005840"/>
          </a:xfrm>
          <a:prstGeom prst="rect">
            <a:avLst/>
          </a:prstGeom>
          <a:solidFill>
            <a:srgbClr val="7058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64808" y="1371600"/>
            <a:ext cx="141731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667487"/>
                </a:solidFill>
              </a:defRPr>
            </a:pPr>
            <a:r>
              <a:t>P99 Latency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64808" y="1673352"/>
            <a:ext cx="1417319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42440"/>
                </a:solidFill>
              </a:defRPr>
            </a:pPr>
            <a:r>
              <a:t>2,475 ms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83880" y="1234440"/>
            <a:ext cx="1737360" cy="1005840"/>
          </a:xfrm>
          <a:prstGeom prst="round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183880" y="1234440"/>
            <a:ext cx="73152" cy="1005840"/>
          </a:xfrm>
          <a:prstGeom prst="rect">
            <a:avLst/>
          </a:prstGeom>
          <a:solidFill>
            <a:srgbClr val="0095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385048" y="1371600"/>
            <a:ext cx="141731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667487"/>
                </a:solidFill>
              </a:defRPr>
            </a:pPr>
            <a:r>
              <a:t>Latency SLO &lt;=2s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85048" y="1673352"/>
            <a:ext cx="1417319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42440"/>
                </a:solidFill>
              </a:defRPr>
            </a:pPr>
            <a:r>
              <a:t>79.89%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104120" y="1234440"/>
            <a:ext cx="1737360" cy="1005840"/>
          </a:xfrm>
          <a:prstGeom prst="round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104120" y="1234440"/>
            <a:ext cx="73152" cy="1005840"/>
          </a:xfrm>
          <a:prstGeom prst="rect">
            <a:avLst/>
          </a:prstGeom>
          <a:solidFill>
            <a:srgbClr val="D248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305288" y="1371600"/>
            <a:ext cx="141731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667487"/>
                </a:solidFill>
              </a:defRPr>
            </a:pPr>
            <a:r>
              <a:t>Error Log Events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305288" y="1673352"/>
            <a:ext cx="1417319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42440"/>
                </a:solidFill>
              </a:defRPr>
            </a:pPr>
            <a:r>
              <a:t>51,887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2788920"/>
            <a:ext cx="52120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Char char="•"/>
              <a:spcAft>
                <a:spcPts val="800"/>
              </a:spcAft>
              <a:defRPr sz="1400">
                <a:solidFill>
                  <a:srgbClr val="222D3D"/>
                </a:solidFill>
              </a:defRPr>
            </a:pPr>
            <a:r>
              <a:t>Treats each payment transaction as a service event for payments-api.</a:t>
            </a:r>
          </a:p>
          <a:p>
            <a:pPr>
              <a:buChar char="•"/>
              <a:spcAft>
                <a:spcPts val="800"/>
              </a:spcAft>
              <a:defRPr sz="1400">
                <a:solidFill>
                  <a:srgbClr val="222D3D"/>
                </a:solidFill>
              </a:defRPr>
            </a:pPr>
            <a:r>
              <a:t>Shows throughput, failure-rate and latency trends over time.</a:t>
            </a:r>
          </a:p>
          <a:p>
            <a:pPr>
              <a:buChar char="•"/>
              <a:spcAft>
                <a:spcPts val="800"/>
              </a:spcAft>
              <a:defRPr sz="1400">
                <a:solidFill>
                  <a:srgbClr val="222D3D"/>
                </a:solidFill>
              </a:defRPr>
            </a:pPr>
            <a:r>
              <a:t>Uses error_message as application log events for troubleshooting.</a:t>
            </a:r>
          </a:p>
          <a:p>
            <a:pPr>
              <a:buChar char="•"/>
              <a:spcAft>
                <a:spcPts val="800"/>
              </a:spcAft>
              <a:defRPr sz="1400">
                <a:solidFill>
                  <a:srgbClr val="222D3D"/>
                </a:solidFill>
              </a:defRPr>
            </a:pPr>
            <a:r>
              <a:t>Includes trace-style drill-down for slowest and failed transactions.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00800" y="2788920"/>
            <a:ext cx="4663440" cy="2240280"/>
          </a:xfrm>
          <a:prstGeom prst="roundRect">
            <a:avLst/>
          </a:prstGeom>
          <a:solidFill>
            <a:srgbClr val="FFFFFF"/>
          </a:solidFill>
          <a:ln>
            <a:solidFill>
              <a:srgbClr val="D2DD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400800" y="2788920"/>
            <a:ext cx="73152" cy="2240280"/>
          </a:xfrm>
          <a:prstGeom prst="rect">
            <a:avLst/>
          </a:prstGeom>
          <a:solidFill>
            <a:srgbClr val="0095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01968" y="2926079"/>
            <a:ext cx="4343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667487"/>
                </a:solidFill>
              </a:defRPr>
            </a:pPr>
            <a:r>
              <a:t>Production extension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01968" y="3246120"/>
            <a:ext cx="4343400" cy="15544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300"/>
              </a:spcAft>
              <a:defRPr sz="950">
                <a:solidFill>
                  <a:srgbClr val="222D3D"/>
                </a:solidFill>
              </a:defRPr>
            </a:pPr>
            <a:r>
              <a:t>Add real APM traces for end-to-end request paths.</a:t>
            </a:r>
          </a:p>
          <a:p>
            <a:pPr>
              <a:spcAft>
                <a:spcPts val="300"/>
              </a:spcAft>
              <a:defRPr sz="950">
                <a:solidFill>
                  <a:srgbClr val="222D3D"/>
                </a:solidFill>
              </a:defRPr>
            </a:pPr>
            <a:r>
              <a:t>Ingest application logs and infrastructure metrics.</a:t>
            </a:r>
          </a:p>
          <a:p>
            <a:pPr>
              <a:spcAft>
                <a:spcPts val="300"/>
              </a:spcAft>
              <a:defRPr sz="950">
                <a:solidFill>
                  <a:srgbClr val="222D3D"/>
                </a:solidFill>
              </a:defRPr>
            </a:pPr>
            <a:r>
              <a:t>Create alert rules and official Elastic SLO objects.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8680" y="5897880"/>
            <a:ext cx="73152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u="sng">
                <a:solidFill>
                  <a:srgbClr val="3673C8"/>
                </a:solidFill>
                <a:hlinkClick r:id="rId2"/>
              </a:rPr>
              <a:t>Open Payments Observability Dashboard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