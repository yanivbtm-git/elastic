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7" r:id="rId18"/>
    <p:sldId id="261" r:id="rId12"/>
    <p:sldId id="268" r:id="rId19"/>
    <p:sldId id="262" r:id="rId13"/>
    <p:sldId id="263" r:id="rId14"/>
    <p:sldId id="264" r:id="rId15"/>
    <p:sldId id="265" r:id="rId16"/>
    <p:sldId id="266" r:id="rId17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6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f95d1796-ed29-40c4-af2c-a05a0f83403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b55a52b-7342-469d-8ebc-317ec445001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9a0f1247-c2d0-475a-9d11-b5c21e950fa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d5e44534-8afb-438e-ae72-aa908ab2bb1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Relationship Id="rId3" Type="http://schemas.openxmlformats.org/officeDocument/2006/relationships/hyperlink" Target="https://payments-c225aa.kb.us-central1.gcp.elastic.cloud:443/app/dashboards#/view/f95d1796-ed29-40c4-af2c-a05a0f834039" TargetMode="External"/><Relationship Id="rId4" Type="http://schemas.openxmlformats.org/officeDocument/2006/relationships/hyperlink" Target="https://payments-c225aa.kb.us-central1.gcp.elastic.cloud:443/app/dashboards#/view/3b55a52b-7342-469d-8ebc-317ec4450018" TargetMode="External"/><Relationship Id="rId5" Type="http://schemas.openxmlformats.org/officeDocument/2006/relationships/hyperlink" Target="https://payments-c225aa.kb.us-central1.gcp.elastic.cloud:443/app/dashboards#/view/d5e44534-8afb-438e-ae72-aa908ab2bb11" TargetMode="External"/><Relationship Id="rId6" Type="http://schemas.openxmlformats.org/officeDocument/2006/relationships/hyperlink" Target="https://payments-c225aa.kb.us-central1.gcp.elastic.cloud:443/app/dashboards#/view/9a0f1247-c2d0-475a-9d11-b5c21e950fa2" TargetMode="External"/><Relationship Id="rId7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7d8487c-132f-4c80-9bef-a760f75cf5a0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7d8487c-132f-4c80-9bef-a760f75cf5a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164592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Payments Analytics with Elastic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6E6F5"/>
                </a:solidFill>
              </a:defRPr>
            </a:pPr>
            <a:r>
              <a:t>Synthetic transactions • Elasticsearch analytics • Kibana dashboards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63240"/>
            <a:ext cx="73152" cy="1097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3063240"/>
            <a:ext cx="73152" cy="10972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3063240"/>
            <a:ext cx="73152" cy="10972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8200" y="3063240"/>
            <a:ext cx="73152" cy="109728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A complete payments analytics demo using Elasticsearch + Kibana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73152" cy="15087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1M synthetic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Generated and streamed using the Bulk 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9476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554480"/>
            <a:ext cx="73152" cy="15087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Search, aggregations, runtime fields, templates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8952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554480"/>
            <a:ext cx="73152" cy="15087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Kibana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Executive, operational, anomalies, maps,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End-to-end demonstration from data generation to executive insights.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Dashboards are powered by ES|QL, aggregations, runtime fields and full-text search.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Designed to show both business value and technical Elasticsearch capabilities.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Synthetic payment transaction dataset indexed into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73152" cy="96012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325880"/>
            <a:ext cx="73152" cy="96012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325880"/>
            <a:ext cx="73152" cy="96012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651760"/>
            <a:ext cx="73152" cy="960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2651760"/>
            <a:ext cx="73152" cy="96012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20" y="2651760"/>
            <a:ext cx="73152" cy="96012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2519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Core fields: amount, country, merchant, payment method, status, latency, risk score.</a:t>
            </a:r>
          </a:p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Additional fields: error_message and runtime fields for live calculations.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67588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by payment 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023360"/>
            <a:ext cx="15544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08736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79" y="4023360"/>
            <a:ext cx="114300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408736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023360"/>
            <a:ext cx="13258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408736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370832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434840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79" y="4370832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434840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4370832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443484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718304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4782312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79" y="4718304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782312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98280" y="4718304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4782312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5065776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5129784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5065776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01000" y="5129784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5065776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5129784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413248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46520" y="5477256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541324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01000" y="5477256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98280" y="541324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5477256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5760720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582472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5760720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01000" y="582472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760720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0" y="582472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Management-level view of payment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515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234440"/>
            <a:ext cx="73152" cy="105156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59" y="1234440"/>
            <a:ext cx="73152" cy="10515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7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7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1234440"/>
            <a:ext cx="73152" cy="105156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234440"/>
            <a:ext cx="73152" cy="10515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096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8803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KPI cards summarize transaction volume, revenue, approval and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Trend chart shows transactions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Breakdowns by country, merchant and payment method explain where volume comes from.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83464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83464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29718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Business message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291840"/>
            <a:ext cx="443484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Fast answer for leaders: Are payments healthy?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Combines financial metrics and operating metrics in one 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Executive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Operational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Investigate failed payments and processing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Failed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Latency Txns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201,523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07208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decline reasons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54680"/>
            <a:ext cx="29260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1868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Decline reason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154680"/>
            <a:ext cx="10058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21868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Txns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02152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66160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Issuer declined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3320" y="3502152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3566160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21,029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49624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913632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Processor timeout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3849624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9039" y="3913632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13,700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197096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261104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ACH verification failed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03320" y="4197096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4261104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544568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608576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Wallet authorization failed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4544568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608576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4892040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95604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Amount limit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03320" y="4892040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49039" y="495604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1,250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29718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Drill-down tables expose the latest failed transactions and highest 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Operations teams can isolate issues by country, payment method, merchant and reason.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Useful for incident response and payment processor troubleshooting.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Operational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503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Visibility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Service visibility view built from the current payment transaction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Availability SLI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94.81%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P99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2,475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Latency SLO &lt;=2s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79.89%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0412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052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Error Log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052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27889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Treats each payment transaction as a service event for payments-api.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throughput, failure-rate and latency trends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Uses error_message as application log events for troubleshooting.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Includes trace-style drill-down for slowest and failed transactions.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788920"/>
            <a:ext cx="46634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788920"/>
            <a:ext cx="73152" cy="2240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2926079"/>
            <a:ext cx="4343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Production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246120"/>
            <a:ext cx="434340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Add real APM traces for end-to-end request paths.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Ingest application logs and infrastructure metrics.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Create alert rules and official Elastic SLO objects.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Visibility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Anomaly Detection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Rule-based anomaly detection without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Amount Txns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5,259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Off-hours Txns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273,850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Decline Countries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Merchant Spikes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3464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Flags transactions above an amount threshold.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Finds merchants with unusual volume increases.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Highlights countries with abnormal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payments outside business hours.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34640"/>
            <a:ext cx="45720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834640"/>
            <a:ext cx="73152" cy="2103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97180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Demo thresholds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291840"/>
            <a:ext cx="425196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High amount: amount &gt;= 250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Off-hours: before 06:00 or after 22:00 UTC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 decline threshold: &gt;= 5.2%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Anomaly Detection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Payments World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Geographic distribution of payment count and total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4300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1: Number of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payments = COUNT(*)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Uses ISO country codes internally for map matching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20116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2: Total payment amount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total_amount = SUM(amount)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Supporting table shows full country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displayed with full names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977639"/>
            <a:ext cx="20116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977639"/>
            <a:ext cx="118872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4164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977639"/>
            <a:ext cx="14630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404164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325112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325112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438912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325112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389120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672583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36592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672583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473659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4672583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473659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020056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084064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5020056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71800" y="5084064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5020056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60520" y="508406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367527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31536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5367527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800" y="543153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367527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520" y="5431536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715000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577900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5715000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71800" y="577900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5715000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577900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59893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World Map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Elasticsearch capabilities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Search, analytics, runtime fields, schema management and lifecycle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Aggregations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Revenue by merchant, approval rate by country, avg/P95 processing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Full-text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Transaction ID, merchant/category and error_message timeout searches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51460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Runtime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Live calculations for approval status, revenue, amount bands, country names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Index templates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Reusable schema for future synthetic-transactions-* indices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0233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Lifecycle / ILM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43434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Serverless note plus hot/warm/delete ILM concept for Stack deployments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Elasticsearch Capabilities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Key insights to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Business and technical outcomes from the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Payment approval rate is 93.02%, showing a healthy baseline.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Total synthetic revenue is approximately $35,128,691 across 1,000,000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Operational risk: 51,887 failed transactions and 201,523 high-latency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Country and merchant breakdowns make it easy to explain where performance changes originate.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Runtime fields and ES|QL enable new calculations without reindexing the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480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1325880"/>
            <a:ext cx="73152" cy="31089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39128" y="1463039"/>
            <a:ext cx="4160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Presentation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783080"/>
            <a:ext cx="4160520" cy="2423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1. Start with executive KPIs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2. Show operational drill-down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3. Demonstrate anomaly monitoring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4. Close with Elasticsearch platform capabilities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How to take the demo toward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887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Connect real payment streams or batch exports.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alerts for high decline rate, high latency and off-hours spikes.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Introduce ML anomaly detection after baseline behavior is established.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Define production index lifecycle policy where ILM is available.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role-based access and scheduled PDF/PNG dashboard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25880"/>
            <a:ext cx="4572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325880"/>
            <a:ext cx="73152" cy="182880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463039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Suggested closing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783080"/>
            <a:ext cx="425196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Elastic provides one platform for payment search, analytics, operations, anomaly detection and geographic insight.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657600"/>
            <a:ext cx="45720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657600"/>
            <a:ext cx="73152" cy="14630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379476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114800"/>
            <a:ext cx="425196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This deck summarizes five live Kibana dashboards and the Elasticsearch capabilities behind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Appendix: live dashboard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Use these links during the demo or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2344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23444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3716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Executive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6916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https://payments-c225aa.kb.us-central1.gcp.elastic.cloud:443/app/dashboards#/view/4175393e-6f7a-4ff6-b800-0a6cc952fb08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0312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0312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40279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Operational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6032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https://payments-c225aa.kb.us-central1.gcp.elastic.cloud:443/app/dashboards#/view/f95d1796-ed29-40c4-af2c-a05a0f834039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2316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3"/>
              </a:rPr>
              <a:t>Open dashboard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97180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7180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10896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Anomaly Detection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42900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https://payments-c225aa.kb.us-central1.gcp.elastic.cloud:443/app/dashboards#/view/3b55a52b-7342-469d-8ebc-317ec4450018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918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4"/>
              </a:rPr>
              <a:t>Open 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4048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4048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97764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Capabilities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29768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https://payments-c225aa.kb.us-central1.gcp.elastic.cloud:443/app/dashboards#/view/d5e44534-8afb-438e-ae72-aa908ab2bb11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605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5"/>
              </a:rPr>
              <a:t>Open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0916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0916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84632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World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6636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https://payments-c225aa.kb.us-central1.gcp.elastic.cloud:443/app/dashboards#/view/9a0f1247-c2d0-475a-9d11-b5c21e950fa2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6"/>
              </a:rPr>
              <a:t>Open dashboard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778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577840"/>
            <a:ext cx="73152" cy="68580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7150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Visibility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60350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https://payments-c225aa.kb.us-central1.gcp.elastic.cloud:443/app/dashboards#/view/250b10ed-6fa9-4032-bec9-8d7d1a3632f6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7"/>
              </a:rPr>
              <a:t>Open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Business Scenarios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Realistic payment incidents added to make the demo story feel like production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10,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Scenario Txns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66,500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02:00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12,000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Top Merchant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merch-42424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092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2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Brazil Failure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84.29%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20" y="1234440"/>
            <a:ext cx="20574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4692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4808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Latency P95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08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3,279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788920"/>
            <a:ext cx="52120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Adds a visible failure spike between 02:00 and 03:00 UTC.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Merchant merch-42424 becomes an obvious volume outlier with 15,000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Brazil shows an elevated failure rate of 84.29%.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High-value transactions reach $9,496.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Latency incident shows baseline around 100ms, jump near 3000ms, and recovery.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1576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Scenario volumes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63240"/>
            <a:ext cx="32918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127248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Scenario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3063240"/>
            <a:ext cx="10972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38360" y="3127248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Txns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410712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474720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 elevated decline 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3410712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474720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22,000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58184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382219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merchant flash-sale volume spike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92640" y="3758184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3822192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15,000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105656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4169664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02:00-03:00 failure spike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4105656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4169664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453128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4517136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processor latency incident 100ms to 3000ms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92640" y="4453128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4517136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800600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864608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high-value transaction cluster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4800600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38360" y="4864608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3,500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5148072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5212080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latency recovery after incident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92640" y="5148072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8360" y="5212080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2,500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Business Scenarios Dashboard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Appendix: business scenario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Additional live link for the realistic incident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10,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25880"/>
            <a:ext cx="106070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325880"/>
            <a:ext cx="73152" cy="91440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463039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Business Scenarios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783080"/>
            <a:ext cx="10287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https://payments-c225aa.kb.us-central1.gcp.elastic.cloud:443/app/dashboards#/view/37d8487c-132f-4c80-9bef-a760f75cf5a0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Use this dashboard when presenting the business story: incident spike, merchant outlier, country decline issue, high-value payments and latency outage.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The dashboard uses a fixed June 10 time range so the scenario remains stable for demos.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