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ayments-c225aa.kb.us-central1.gcp.elastic.cloud:443/app/dashboards#/view/4175393e-6f7a-4ff6-b800-0a6cc952fb08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ayments-c225aa.kb.us-central1.gcp.elastic.cloud:443/app/dashboards#/view/f95d1796-ed29-40c4-af2c-a05a0f834039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ayments-c225aa.kb.us-central1.gcp.elastic.cloud:443/app/dashboards#/view/3b55a52b-7342-469d-8ebc-317ec4450018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ayments-c225aa.kb.us-central1.gcp.elastic.cloud:443/app/dashboards#/view/9a0f1247-c2d0-475a-9d11-b5c21e950fa2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ayments-c225aa.kb.us-central1.gcp.elastic.cloud:443/app/dashboards#/view/d5e44534-8afb-438e-ae72-aa908ab2bb1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ayments-c225aa.kb.us-central1.gcp.elastic.cloud:443/app/dashboards#/view/4175393e-6f7a-4ff6-b800-0a6cc952fb08" TargetMode="External"/><Relationship Id="rId3" Type="http://schemas.openxmlformats.org/officeDocument/2006/relationships/hyperlink" Target="https://payments-c225aa.kb.us-central1.gcp.elastic.cloud:443/app/dashboards#/view/f95d1796-ed29-40c4-af2c-a05a0f834039" TargetMode="External"/><Relationship Id="rId4" Type="http://schemas.openxmlformats.org/officeDocument/2006/relationships/hyperlink" Target="https://payments-c225aa.kb.us-central1.gcp.elastic.cloud:443/app/dashboards#/view/3b55a52b-7342-469d-8ebc-317ec4450018" TargetMode="External"/><Relationship Id="rId5" Type="http://schemas.openxmlformats.org/officeDocument/2006/relationships/hyperlink" Target="https://payments-c225aa.kb.us-central1.gcp.elastic.cloud:443/app/dashboards#/view/d5e44534-8afb-438e-ae72-aa908ab2bb11" TargetMode="External"/><Relationship Id="rId6" Type="http://schemas.openxmlformats.org/officeDocument/2006/relationships/hyperlink" Target="https://payments-c225aa.kb.us-central1.gcp.elastic.cloud:443/app/dashboards#/view/9a0f1247-c2d0-475a-9d11-b5c21e950fa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164592"/>
          </a:xfrm>
          <a:prstGeom prst="rect">
            <a:avLst/>
          </a:prstGeom>
          <a:solidFill>
            <a:srgbClr val="009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Payments Analytics with Elastic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6E6F5"/>
                </a:solidFill>
              </a:defRPr>
            </a:pPr>
            <a:r>
              <a:t>Synthetic transactions • Elasticsearch analytics • Kibana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6324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063240"/>
            <a:ext cx="73152" cy="1097280"/>
          </a:xfrm>
          <a:prstGeom prst="rect">
            <a:avLst/>
          </a:prstGeom>
          <a:solidFill>
            <a:srgbClr val="009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20040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5021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1,000,000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06324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3063240"/>
            <a:ext cx="73152" cy="1097280"/>
          </a:xfrm>
          <a:prstGeom prst="rect">
            <a:avLst/>
          </a:prstGeom>
          <a:solidFill>
            <a:srgbClr val="44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320040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5021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$35,128,691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06324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3063240"/>
            <a:ext cx="73152" cy="109728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320040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Approval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5021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93.02%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06324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200" y="3063240"/>
            <a:ext cx="73152" cy="1097280"/>
          </a:xfrm>
          <a:prstGeom prst="rect">
            <a:avLst/>
          </a:prstGeom>
          <a:solidFill>
            <a:srgbClr val="7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320040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5021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What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A complete payments analytics demo using Elasticsearch + Kibana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3152" cy="150876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91639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1M synthetic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2926079" cy="8229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Generated and streamed using the Bulk API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94760" y="1920240"/>
            <a:ext cx="502920" cy="502920"/>
          </a:xfrm>
          <a:prstGeom prst="rightArrow">
            <a:avLst/>
          </a:prstGeom>
          <a:solidFill>
            <a:srgbClr val="EF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55448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554480"/>
            <a:ext cx="73152" cy="1508760"/>
          </a:xfrm>
          <a:prstGeom prst="rect">
            <a:avLst/>
          </a:prstGeom>
          <a:solidFill>
            <a:srgbClr val="009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691639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Elasticsearch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011680"/>
            <a:ext cx="2926079" cy="8229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Search, aggregations, runtime fields, templates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89520" y="1920240"/>
            <a:ext cx="502920" cy="502920"/>
          </a:xfrm>
          <a:prstGeom prst="rightArrow">
            <a:avLst/>
          </a:prstGeom>
          <a:solidFill>
            <a:srgbClr val="EF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55448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73152" cy="1508760"/>
          </a:xfrm>
          <a:prstGeom prst="rect">
            <a:avLst/>
          </a:prstGeom>
          <a:solidFill>
            <a:srgbClr val="7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1691639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Kibana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011680"/>
            <a:ext cx="2926079" cy="8229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Executive, operational, anomalies, maps,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947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800"/>
              </a:spcAft>
              <a:defRPr sz="1600">
                <a:solidFill>
                  <a:srgbClr val="222D3D"/>
                </a:solidFill>
              </a:defRPr>
            </a:pPr>
            <a:r>
              <a:t>End-to-end demonstration from data generation to executive insights.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22D3D"/>
                </a:solidFill>
              </a:defRPr>
            </a:pPr>
            <a:r>
              <a:t>Dashboards are powered by ES|QL, aggregations, runtime fields and full-text search.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22D3D"/>
                </a:solidFill>
              </a:defRPr>
            </a:pPr>
            <a:r>
              <a:t>Designed to show both business value and technical Elasticsearch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Synthetic payment transaction dataset indexed into Elasticsearch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3152" cy="96012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63039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Total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64792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1,000,000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73152" cy="960120"/>
          </a:xfrm>
          <a:prstGeom prst="rect">
            <a:avLst/>
          </a:prstGeom>
          <a:solidFill>
            <a:srgbClr val="44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463039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764792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$35,128,691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32588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325880"/>
            <a:ext cx="73152" cy="960120"/>
          </a:xfrm>
          <a:prstGeom prst="rect">
            <a:avLst/>
          </a:prstGeom>
          <a:solidFill>
            <a:srgbClr val="009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463039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Approval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764792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93.02%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65176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651760"/>
            <a:ext cx="73152" cy="960120"/>
          </a:xfrm>
          <a:prstGeom prst="rect">
            <a:avLst/>
          </a:prstGeom>
          <a:solidFill>
            <a:srgbClr val="EF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278892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Decline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090672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5.00%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65176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651760"/>
            <a:ext cx="73152" cy="960120"/>
          </a:xfrm>
          <a:prstGeom prst="rect">
            <a:avLst/>
          </a:prstGeom>
          <a:solidFill>
            <a:srgbClr val="7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278892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Avg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090672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1,256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65176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2651760"/>
            <a:ext cx="73152" cy="960120"/>
          </a:xfrm>
          <a:prstGeom prst="rect">
            <a:avLst/>
          </a:prstGeom>
          <a:solidFill>
            <a:srgbClr val="D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278892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P95 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090672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2,376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2519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800"/>
              </a:spcAft>
              <a:defRPr sz="1300">
                <a:solidFill>
                  <a:srgbClr val="222D3D"/>
                </a:solidFill>
              </a:defRPr>
            </a:pPr>
            <a:r>
              <a:t>Core fields: amount, country, merchant, payment method, status, latency, risk score.</a:t>
            </a:r>
          </a:p>
          <a:p>
            <a:pPr>
              <a:buChar char="•"/>
              <a:spcAft>
                <a:spcPts val="800"/>
              </a:spcAft>
              <a:defRPr sz="1300">
                <a:solidFill>
                  <a:srgbClr val="222D3D"/>
                </a:solidFill>
              </a:defRPr>
            </a:pPr>
            <a:r>
              <a:t>Additional fields: error_message and runtime fields for live calculations.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675888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42440"/>
                </a:solidFill>
              </a:defRPr>
            </a:pPr>
            <a:r>
              <a:t>Top countries by payment 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023360"/>
            <a:ext cx="1554480" cy="347472"/>
          </a:xfrm>
          <a:prstGeom prst="rect">
            <a:avLst/>
          </a:prstGeom>
          <a:solidFill>
            <a:srgbClr val="1424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087368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Country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4023360"/>
            <a:ext cx="1143000" cy="347472"/>
          </a:xfrm>
          <a:prstGeom prst="rect">
            <a:avLst/>
          </a:prstGeom>
          <a:solidFill>
            <a:srgbClr val="1424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4087368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4023360"/>
            <a:ext cx="1325880" cy="347472"/>
          </a:xfrm>
          <a:prstGeom prst="rect">
            <a:avLst/>
          </a:prstGeom>
          <a:solidFill>
            <a:srgbClr val="1424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087368"/>
            <a:ext cx="1234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Amount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370832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434840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Singapore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4370832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43484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100,647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4370832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4434840"/>
            <a:ext cx="1234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$4,098,473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718304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4782312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Brazil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4718304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4782312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100,318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98280" y="4718304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4782312"/>
            <a:ext cx="1234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$4,096,100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065776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5129784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United Kingdom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79" y="5065776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5129784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100,297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5065776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5129784"/>
            <a:ext cx="1234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$4,101,933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5413248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5477256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India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79" y="541324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1000" y="5477256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100,058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98280" y="541324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5477256"/>
            <a:ext cx="1234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$4,104,417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5760720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5824728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Canada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79" y="5760720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01000" y="5824728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99,976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98280" y="5760720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0" y="5824728"/>
            <a:ext cx="1234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$4,094,552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Management-level view of payment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73152" cy="105156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716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Total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1,000,000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2344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1234440"/>
            <a:ext cx="73152" cy="1051560"/>
          </a:xfrm>
          <a:prstGeom prst="rect">
            <a:avLst/>
          </a:prstGeom>
          <a:solidFill>
            <a:srgbClr val="44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3716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6733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$35,128,691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2344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59" y="1234440"/>
            <a:ext cx="73152" cy="1051560"/>
          </a:xfrm>
          <a:prstGeom prst="rect">
            <a:avLst/>
          </a:prstGeom>
          <a:solidFill>
            <a:srgbClr val="009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7" y="13716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Approval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7" y="16733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93.02%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2344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234440"/>
            <a:ext cx="73152" cy="1051560"/>
          </a:xfrm>
          <a:prstGeom prst="rect">
            <a:avLst/>
          </a:prstGeom>
          <a:solidFill>
            <a:srgbClr val="EF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3716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Decline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16733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5.00%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2344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1234440"/>
            <a:ext cx="73152" cy="1051560"/>
          </a:xfrm>
          <a:prstGeom prst="rect">
            <a:avLst/>
          </a:prstGeom>
          <a:solidFill>
            <a:srgbClr val="7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0968" y="13716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Avg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16733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1,256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8803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KPI cards summarize transaction volume, revenue, approval and decline rates.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Trend chart shows transactions over time.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Breakdowns by country, merchant and payment method explain where volume comes from.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834640"/>
            <a:ext cx="4754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2834640"/>
            <a:ext cx="73152" cy="201168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971800"/>
            <a:ext cx="4434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Business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3291840"/>
            <a:ext cx="443484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Fast answer for leaders: Are payments healthy?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Combines financial metrics and operating metrics in one view.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2"/>
              </a:rPr>
              <a:t>Open Executive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Operational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Investigate failed payments and processing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1005840"/>
          </a:xfrm>
          <a:prstGeom prst="rect">
            <a:avLst/>
          </a:prstGeom>
          <a:solidFill>
            <a:srgbClr val="D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Failed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51,887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23444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234440"/>
            <a:ext cx="73152" cy="1005840"/>
          </a:xfrm>
          <a:prstGeom prst="rect">
            <a:avLst/>
          </a:prstGeom>
          <a:solidFill>
            <a:srgbClr val="EF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Failure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1673352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5.19%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23444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234440"/>
            <a:ext cx="73152" cy="1005840"/>
          </a:xfrm>
          <a:prstGeom prst="rect">
            <a:avLst/>
          </a:prstGeom>
          <a:solidFill>
            <a:srgbClr val="7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High Latency Txns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673352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201,523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23444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59" y="1234440"/>
            <a:ext cx="73152" cy="100584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P95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1673352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2,376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807208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42440"/>
                </a:solidFill>
              </a:defRPr>
            </a:pPr>
            <a:r>
              <a:t>Top decline reasons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154680"/>
            <a:ext cx="2926080" cy="347472"/>
          </a:xfrm>
          <a:prstGeom prst="rect">
            <a:avLst/>
          </a:prstGeom>
          <a:solidFill>
            <a:srgbClr val="1424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218688"/>
            <a:ext cx="2834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Decline reason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3154680"/>
            <a:ext cx="1005840" cy="347472"/>
          </a:xfrm>
          <a:prstGeom prst="rect">
            <a:avLst/>
          </a:prstGeom>
          <a:solidFill>
            <a:srgbClr val="1424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21868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Txns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502152"/>
            <a:ext cx="29260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66160"/>
            <a:ext cx="2834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Issuer declined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3502152"/>
            <a:ext cx="10058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356616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21,029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849624"/>
            <a:ext cx="29260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913632"/>
            <a:ext cx="2834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Processor timeout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3849624"/>
            <a:ext cx="10058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39" y="391363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13,700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197096"/>
            <a:ext cx="29260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261104"/>
            <a:ext cx="2834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ACH verification failed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4197096"/>
            <a:ext cx="10058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39" y="426110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6,997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544568"/>
            <a:ext cx="29260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608576"/>
            <a:ext cx="2834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Wallet authorization failed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03320" y="4544568"/>
            <a:ext cx="10058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39" y="460857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6,986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4892040"/>
            <a:ext cx="29260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956048"/>
            <a:ext cx="2834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Amount limit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03320" y="4892040"/>
            <a:ext cx="10058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39" y="49560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1,250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297180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Drill-down tables expose the latest failed transactions and highest latency transactions.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Operations teams can isolate issues by country, payment method, merchant and reason.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Useful for incident response and payment processor troubleshooting.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89788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2"/>
              </a:rPr>
              <a:t>Open Operational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Anomaly Detection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Rule-based anomaly detection without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1005840"/>
          </a:xfrm>
          <a:prstGeom prst="rect">
            <a:avLst/>
          </a:prstGeom>
          <a:solidFill>
            <a:srgbClr val="EF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High Amount Txns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5,259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23444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234440"/>
            <a:ext cx="73152" cy="1005840"/>
          </a:xfrm>
          <a:prstGeom prst="rect">
            <a:avLst/>
          </a:prstGeom>
          <a:solidFill>
            <a:srgbClr val="7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Off-hours Txns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1673352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273,850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23444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234440"/>
            <a:ext cx="73152" cy="1005840"/>
          </a:xfrm>
          <a:prstGeom prst="rect">
            <a:avLst/>
          </a:prstGeom>
          <a:solidFill>
            <a:srgbClr val="D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High Decline Countries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673352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23444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59" y="1234440"/>
            <a:ext cx="73152" cy="1005840"/>
          </a:xfrm>
          <a:prstGeom prst="rect">
            <a:avLst/>
          </a:prstGeom>
          <a:solidFill>
            <a:srgbClr val="009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Merchant Spikes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1673352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440"/>
                </a:solidFill>
              </a:defRPr>
            </a:pPr>
            <a:r>
              <a:t>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83464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Flags transactions above an amount threshold.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Finds merchants with unusual volume increases.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Highlights countries with abnormal decline rates.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Shows payments outside business hours.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834640"/>
            <a:ext cx="4572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834640"/>
            <a:ext cx="73152" cy="2103120"/>
          </a:xfrm>
          <a:prstGeom prst="rect">
            <a:avLst/>
          </a:prstGeom>
          <a:solidFill>
            <a:srgbClr val="EF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971800"/>
            <a:ext cx="4251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Demo thresholds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291840"/>
            <a:ext cx="4251960" cy="1417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High amount: amount &gt;= 250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Off-hours: before 06:00 or after 22:00 UTC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Country decline threshold: &gt;= 5.2%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9788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2"/>
              </a:rPr>
              <a:t>Open Anomaly Detection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Payments World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Geographic distribution of payment count and total amount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201168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28016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Map 1: Number of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47548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Country-level region map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Metric: payments = COUNT(*)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Uses ISO country codes internally for map 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143000"/>
            <a:ext cx="73152" cy="2011680"/>
          </a:xfrm>
          <a:prstGeom prst="rect">
            <a:avLst/>
          </a:prstGeom>
          <a:solidFill>
            <a:srgbClr val="44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28016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Map 2: Total payment amount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600200"/>
            <a:ext cx="47548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Country-level region map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Metric: total_amount = SUM(amount)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Supporting table shows full country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0168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42440"/>
                </a:solidFill>
              </a:defRPr>
            </a:pPr>
            <a:r>
              <a:t>Top countries displayed with full names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77639"/>
            <a:ext cx="2011680" cy="347472"/>
          </a:xfrm>
          <a:prstGeom prst="rect">
            <a:avLst/>
          </a:prstGeom>
          <a:solidFill>
            <a:srgbClr val="1424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Country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977639"/>
            <a:ext cx="1188720" cy="347472"/>
          </a:xfrm>
          <a:prstGeom prst="rect">
            <a:avLst/>
          </a:prstGeom>
          <a:solidFill>
            <a:srgbClr val="1424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04164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977639"/>
            <a:ext cx="1463040" cy="347472"/>
          </a:xfrm>
          <a:prstGeom prst="rect">
            <a:avLst/>
          </a:prstGeom>
          <a:solidFill>
            <a:srgbClr val="1424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404164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Amount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325112"/>
            <a:ext cx="2011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Singapore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325112"/>
            <a:ext cx="11887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43891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100,647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325112"/>
            <a:ext cx="14630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389120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$4,098,473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672583"/>
            <a:ext cx="2011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36592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Brazil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672583"/>
            <a:ext cx="11887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473659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100,318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672583"/>
            <a:ext cx="14630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473659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$4,096,100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020056"/>
            <a:ext cx="2011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084064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United Kingdom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5020056"/>
            <a:ext cx="11887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5084064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100,297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5020056"/>
            <a:ext cx="14630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0520" y="508406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$4,101,933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5367527"/>
            <a:ext cx="2011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43153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India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5367527"/>
            <a:ext cx="11887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543153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100,058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5367527"/>
            <a:ext cx="14630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0520" y="5431536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$4,104,417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5715000"/>
            <a:ext cx="2011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577900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Canada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5715000"/>
            <a:ext cx="11887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577900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99,976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5715000"/>
            <a:ext cx="14630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0520" y="577900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22D3D"/>
                </a:solidFill>
              </a:defRPr>
            </a:pPr>
            <a:r>
              <a:t>$4,094,552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9893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2"/>
              </a:rPr>
              <a:t>Open Payments World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Elasticsearch capabilities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Search, analytics, runtime fields, schema management and lifecycle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73152" cy="100584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28016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Aggregations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00200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Revenue by merchant, approval rate by country, avg/P95 processing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143000"/>
            <a:ext cx="73152" cy="1005840"/>
          </a:xfrm>
          <a:prstGeom prst="rect">
            <a:avLst/>
          </a:prstGeom>
          <a:solidFill>
            <a:srgbClr val="009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28016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Full-text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600200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Transaction ID, merchant/category and error_message timeout searches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51460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514600"/>
            <a:ext cx="73152" cy="1005840"/>
          </a:xfrm>
          <a:prstGeom prst="rect">
            <a:avLst/>
          </a:prstGeom>
          <a:solidFill>
            <a:srgbClr val="7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65176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Runtime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971800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Live calculations for approval status, revenue, amount bands, country names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51460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514600"/>
            <a:ext cx="73152" cy="1005840"/>
          </a:xfrm>
          <a:prstGeom prst="rect">
            <a:avLst/>
          </a:prstGeom>
          <a:solidFill>
            <a:srgbClr val="EF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65176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Index templates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971800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Reusable schema for future synthetic-transactions-* indices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8620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886200"/>
            <a:ext cx="73152" cy="1005840"/>
          </a:xfrm>
          <a:prstGeom prst="rect">
            <a:avLst/>
          </a:prstGeom>
          <a:solidFill>
            <a:srgbClr val="44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02336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Lifecycle / ILM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343400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Serverless note plus hot/warm/delete ILM concept for Stack deployments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2"/>
              </a:rPr>
              <a:t>Open Elasticsearch Capabilities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Key insights to communicate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Business and technical outcomes from the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Payment approval rate is 93.02%, showing a healthy baseline.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Total synthetic revenue is approximately $35,128,691 across 1,000,000 transactions.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Operational risk: 51,887 failed transactions and 201,523 high-latency transactions.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Country and merchant breakdowns make it easy to explain where performance changes originate.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222D3D"/>
                </a:solidFill>
              </a:defRPr>
            </a:pPr>
            <a:r>
              <a:t>Runtime fields and ES|QL enable new calculations without reindexing the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25880"/>
            <a:ext cx="44805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325880"/>
            <a:ext cx="73152" cy="310896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9128" y="1463039"/>
            <a:ext cx="4160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Presentation narrative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1783080"/>
            <a:ext cx="4160520" cy="2423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1. Start with executive KPIs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2. Show operational drill-down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3. Demonstrate anomaly monitoring</a:t>
            </a:r>
          </a:p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4. Close with Elasticsearch platform capabilities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How to take the demo toward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222D3D"/>
                </a:solidFill>
              </a:defRPr>
            </a:pPr>
            <a:r>
              <a:t>Connect real payment streams or batch exports.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22D3D"/>
                </a:solidFill>
              </a:defRPr>
            </a:pPr>
            <a:r>
              <a:t>Add alerts for high decline rate, high latency and off-hours spikes.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22D3D"/>
                </a:solidFill>
              </a:defRPr>
            </a:pPr>
            <a:r>
              <a:t>Introduce ML anomaly detection after baseline behavior is established.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22D3D"/>
                </a:solidFill>
              </a:defRPr>
            </a:pPr>
            <a:r>
              <a:t>Define production index lifecycle policy where ILM is available.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22D3D"/>
                </a:solidFill>
              </a:defRPr>
            </a:pPr>
            <a:r>
              <a:t>Add role-based access and scheduled PDF/PNG dashboard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4572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25880"/>
            <a:ext cx="73152" cy="1828800"/>
          </a:xfrm>
          <a:prstGeom prst="rect">
            <a:avLst/>
          </a:prstGeom>
          <a:solidFill>
            <a:srgbClr val="44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463039"/>
            <a:ext cx="4251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Suggested closing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783080"/>
            <a:ext cx="425196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Elastic provides one platform for payment search, analytics, operations, anomaly detection and geographic insight.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57600"/>
            <a:ext cx="4572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73152" cy="1463040"/>
          </a:xfrm>
          <a:prstGeom prst="rect">
            <a:avLst/>
          </a:prstGeom>
          <a:solidFill>
            <a:srgbClr val="7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794760"/>
            <a:ext cx="4251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114800"/>
            <a:ext cx="425196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This deck summarizes five live Kibana dashboards and the Elasticsearch capabilities behind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440"/>
                </a:solidFill>
              </a:defRPr>
            </a:pPr>
            <a:r>
              <a:t>Appendix: live dashboard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487"/>
                </a:solidFill>
              </a:defRPr>
            </a:pPr>
            <a:r>
              <a:t>Use these links during the demo or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Elastic Payments Analytics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465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Jun 09,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07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68580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371600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Executive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91640"/>
            <a:ext cx="10287000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https://payments-c225aa.kb.us-central1.gcp.elastic.cloud:443/app/dashboards#/view/4175393e-6f7a-4ff6-b800-0a6cc952fb08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2"/>
              </a:rPr>
              <a:t>Open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03120"/>
            <a:ext cx="10607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103120"/>
            <a:ext cx="73152" cy="68580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240279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Operational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560320"/>
            <a:ext cx="10287000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https://payments-c225aa.kb.us-central1.gcp.elastic.cloud:443/app/dashboards#/view/f95d1796-ed29-40c4-af2c-a05a0f834039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2316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3"/>
              </a:rPr>
              <a:t>Open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71800"/>
            <a:ext cx="10607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71800"/>
            <a:ext cx="73152" cy="68580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108960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Anomaly Detection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429000"/>
            <a:ext cx="10287000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https://payments-c225aa.kb.us-central1.gcp.elastic.cloud:443/app/dashboards#/view/3b55a52b-7342-469d-8ebc-317ec4450018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9184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4"/>
              </a:rPr>
              <a:t>Open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40480"/>
            <a:ext cx="10607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840480"/>
            <a:ext cx="73152" cy="68580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977640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Elasticsearch Capabilities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297680"/>
            <a:ext cx="10287000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https://payments-c225aa.kb.us-central1.gcp.elastic.cloud:443/app/dashboards#/view/d5e44534-8afb-438e-ae72-aa908ab2bb11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5"/>
              </a:rPr>
              <a:t>Open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09160"/>
            <a:ext cx="10607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709160"/>
            <a:ext cx="73152" cy="685800"/>
          </a:xfrm>
          <a:prstGeom prst="rect">
            <a:avLst/>
          </a:prstGeom>
          <a:solidFill>
            <a:srgbClr val="36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4846320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487"/>
                </a:solidFill>
              </a:defRPr>
            </a:pPr>
            <a:r>
              <a:t>Payments World 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5166360"/>
            <a:ext cx="10287000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22D3D"/>
                </a:solidFill>
              </a:defRPr>
            </a:pPr>
            <a:r>
              <a:t>https://payments-c225aa.kb.us-central1.gcp.elastic.cloud:443/app/dashboards#/view/9a0f1247-c2d0-475a-9d11-b5c21e950fa2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292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3673C8"/>
                </a:solidFill>
                <a:hlinkClick r:id="rId6"/>
              </a:rPr>
              <a:t>Open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